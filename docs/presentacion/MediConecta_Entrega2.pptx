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ea1b2b8f-6fe0-c85f-3c35-5b24a98afc31}">
          <p14:sldIdLst>
            <p14:sldId id="256"/>
          </p14:sldIdLst>
        </p14:section>
        <p14:section name="Qué hicimos" id="{cf213ad5-3662-c6d9-cb61-b67c15b8d54d}">
          <p14:sldIdLst>
            <p14:sldId id="257"/>
            <p14:sldId id="258"/>
            <p14:sldId id="259"/>
          </p14:sldIdLst>
        </p14:section>
        <p14:section name="Demo" id="{4d901db6-7be1-668b-9c49-474b82dc3bbd}">
          <p14:sldIdLst>
            <p14:sldId id="260"/>
            <p14:sldId id="261"/>
            <p14:sldId id="262"/>
          </p14:sldIdLst>
        </p14:section>
        <p14:section name="Decisiones" id="{c0ae0ec0-05f7-2e08-3f8d-4bf26781e1ac}">
          <p14:sldIdLst>
            <p14:sldId id="263"/>
            <p14:sldId id="264"/>
            <p14:sldId id="265"/>
            <p14:sldId id="266"/>
          </p14:sldIdLst>
        </p14:section>
        <p14:section name="Cierre" id="{c6637fb8-5cad-df46-7f06-a9c72dbcf223}">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Contar en una frase qué es MediConecta (pacientes y profesionales, turnos e historia clínica) y que esta entrega suma la primera integración asincrónica real, con broker configurado, como pide la consigna para el 19/10.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esta diapositiva para anticipar la objeción de que la demo se parece a la de la Entrega 1. Frase: la pantalla del paciente es la misma a propósito, porque el proceso asincrónico se engancha a la operación que ya existía; lo nuevo es todo lo que pasa después del clic, y lo vamos a mostrar con el Monitor de eventos y con la consola del broker.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la entrega en cuatro puntos. Remarcar que el broker no es simulado: es el ActiveMQ Artemis embebido en WildFly (perfil standalone-full.xml), y que todo se probó contra la base real en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flujo de izquierda a derecha. Punto clave: la caja punteada es UNA transacción JTA; el envío JMS se enlista en ella (patrón Transactional Client), así que si el guardado del turno falla, el mensaje nunca sale. A la derecha, las flechas punteadas son asincrónicas: el paciente ya tiene su respuesta y los dos MDB trabajan en hilos del broker. Agregar un tercer suscriptor (facturación) no requiere tocar el servicio de turnos.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la demo en vivo con juan.perez@mediconecta.test (contraseña demo1234). Mostrar el cartel ámbar de 'Turno reservado temporalmente': es el EJB @Stateful con @StatefulTimeout de 5 minutos. Si sobra tiempo, dejar vencer un hold y mostrar que el turno vuelve solo a la lista de disponibles.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Tener abierta en otra ventana (o en incógnito) la sesión de ana.lopez@mediconecta.test. Después de que el paciente confirma, a los pocos segundos aparece la notificación y el contador del menú sube, sin tocar nada. Si preguntan por el email: el envío SMTP está simulado (se ve en el log de WildFly como [SMTP simulado]); lo real es la mensajería.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Pantalla nueva de esta entrega (menú: Monitor de eventos). Cada usuario ve solo los eventos de sus turnos: el servicio toma el usuario del principal autenticado, no de un parámetro (seguridad por titularidad). Demo: con la profesional en el monitor, en la consola: /deployment=mediconecta.war/subsystem=ejb3/message-driven-bean=AuditoriaSubscriber:stop-delivery ; el paciente cancela un turno ; el monitor muestra Auditoría Pendiente ; :start-delivery ; en 3 segundos pasa a ✓ con la latencia del tiempo retenido.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clasificación que pide la consigna. Regla que usamos: si el usuario necesita la respuesta para seguir, sincrónico; si es una consecuencia que puede procesarse después, o tiene varios interesados, asincrónico. Las integraciones sincrónicas y la cola son de la entrega del 09/11; están en el diagrama SOA con línea punteada.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casos se probaron contra la base real. Para mostrarlo en vivo: jboss-cli con stop-delivery sobre AuditoriaSubscriber, confirmar un turno, count-messages-for-subscription muestra 1 mensaje retenido; start-delivery (o reiniciar) y se procesa. Para la DLQ: jms-queue=DLQ:count-messages.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profesor pidió la mayor cantidad de patrones posible: acá están los 13 que tienen código (Transfer Object es nuevo: lo usa el Monitor de eventos). Lo importante es que están encadenados: la fachada (ServicioDeTurnosBean) es además el director del Builder; el evento viaja por el tópico; el suscriptor delega en el Template Method; los procesadores guardan por un DAO. El diagrama de clases con patrones (documento maestro, figura 10) lo muestra completo. Los otros patrones del documento de diseño (State, Strategy, Chain of Responsibility, Adapter, Circuit Breaker) son para el 09/11.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profesor pidió cosas fuera del marco del ejemplo. Rendimiento: MecanismoAutenticacion consultaba la base en cada request, incluso CSS y JS, y los getters de JSF se evaluaban varias veces por render; se resolvió con memoización por request (LoginBean.getUsuarioActual, AgendaBean.getMisTurnos). Bug: MecanismoAutenticacion devolvía responseUnauthorized() (401 crudo); ahora devuelve SEND_FAILURE y LoginBean muestra 'Credenciales inválidas'.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esto ya figura en el diagrama de integración con línea punteada. Con estas piezas se suman los patrones planificados: Adapter/Gateway, Circuit Breaker, Competing Consumers, State, Strategy y Chain of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Invitar al profesor a elegir qué abrir. Recorrido sugerido en la guía de presentación (PDF): confirmar() → PublicadorEventosTurno → NotificacionesSubscriber → ProcesadorNotificacion.procesar() → EventoProcesadoDAO.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731520" y="3246120"/>
            <a:ext cx="10698480" cy="731520"/>
          </a:xfrm>
          <a:prstGeom prst="rect">
            <a:avLst/>
          </a:prstGeom>
          <a:noFill/>
          <a:ln/>
        </p:spPr>
        <p:txBody>
          <a:bodyPr wrap="square" rtlCol="0"/>
          <a:lstStyle>
            <a:lvl1pPr algn="l" indent="0" marL="0">
              <a:buNone/>
              <a:defRPr lang="en-US" sz="2400" dirty="0">
                <a:solidFill>
                  <a:srgbClr val="C9D6F7"/>
                </a:solidFill>
                <a:latin typeface="Calibri" pitchFamily="34" charset="0"/>
                <a:ea typeface="Calibri" pitchFamily="34" charset="-122"/>
                <a:cs typeface="Calibri" pitchFamily="34" charset="-120"/>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MediConecta · Entrega Parcial N.º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MediConecta</a:t>
            </a:r>
            <a:endParaRPr lang="en-US" sz="5400" dirty="0"/>
          </a:p>
        </p:txBody>
      </p:sp>
      <p:sp>
        <p:nvSpPr>
          <p:cNvPr id="3" name="Text 0"/>
          <p:cNvSpPr/>
          <p:nvPr>
            <p:ph idx="101" type="body" hasCustomPrompt="1"/>
          </p:nvPr>
        </p:nvSpPr>
        <p:spPr>
          <a:xfrm>
            <a:off x="731520" y="3246120"/>
            <a:ext cx="10698480" cy="731520"/>
          </a:xfrm>
          <a:prstGeom prst="rect">
            <a:avLst/>
          </a:prstGeom>
          <a:noFill/>
          <a:ln/>
        </p:spPr>
        <p:txBody>
          <a:bodyPr wrap="square" lIns="0" tIns="0" rIns="0" bIns="0" rtlCol="0" anchor="t"/>
          <a:lstStyle/>
          <a:p>
            <a:pPr algn="l" indent="0" marL="0">
              <a:buNone/>
            </a:pPr>
            <a:r>
              <a:rPr lang="en-US" sz="2400" dirty="0">
                <a:solidFill>
                  <a:srgbClr val="C9D6F7"/>
                </a:solidFill>
                <a:latin typeface="Calibri" pitchFamily="34" charset="0"/>
                <a:ea typeface="Calibri" pitchFamily="34" charset="-122"/>
                <a:cs typeface="Calibri" pitchFamily="34" charset="-120"/>
              </a:rPr>
              <a:t>Entrega Parcial N.º 2 · Mensajería asincrónica de punta a punta</a:t>
            </a:r>
            <a:endParaRPr lang="en-US" sz="2400" dirty="0"/>
          </a:p>
        </p:txBody>
      </p:sp>
      <p:sp>
        <p:nvSpPr>
          <p:cNvPr id="4" name="Logo círculo"/>
          <p:cNvSpPr/>
          <p:nvPr/>
        </p:nvSpPr>
        <p:spPr>
          <a:xfrm>
            <a:off x="731520" y="731520"/>
            <a:ext cx="868680" cy="868680"/>
          </a:xfrm>
          <a:prstGeom prst="ellipse">
            <a:avLst/>
          </a:prstGeom>
          <a:solidFill>
            <a:schemeClr val="accent1"/>
          </a:solidFill>
          <a:ln w="12700">
            <a:solidFill>
              <a:schemeClr val="accent1"/>
            </a:solidFill>
            <a:prstDash val="solid"/>
          </a:ln>
        </p:spPr>
      </p:sp>
      <p:pic>
        <p:nvPicPr>
          <p:cNvPr id="5" name="Logo ícono" descr="preencoded.png">    </p:cNvPr>
          <p:cNvPicPr>
            <a:picLocks noChangeAspect="1"/>
          </p:cNvPicPr>
          <p:nvPr/>
        </p:nvPicPr>
        <p:blipFill>
          <a:blip r:embed="rId1"/>
          <a:stretch>
            <a:fillRect/>
          </a:stretch>
        </p:blipFill>
        <p:spPr>
          <a:xfrm>
            <a:off x="940003" y="940003"/>
            <a:ext cx="451714" cy="451714"/>
          </a:xfrm>
          <a:prstGeom prst="rect">
            <a:avLst/>
          </a:prstGeom>
        </p:spPr>
      </p:pic>
      <p:sp>
        <p:nvSpPr>
          <p:cNvPr id="6" name="Integrantes"/>
          <p:cNvSpPr txBox="1"/>
          <p:nvPr/>
        </p:nvSpPr>
        <p:spPr>
          <a:xfrm>
            <a:off x="731520" y="5212080"/>
            <a:ext cx="10698480" cy="822960"/>
          </a:xfrm>
          <a:prstGeom prst="rect">
            <a:avLst/>
          </a:prstGeom>
          <a:noFill/>
          <a:ln/>
        </p:spPr>
        <p:txBody>
          <a:bodyPr wrap="square" lIns="0" tIns="0" rIns="0" bIns="0" rtlCol="0" anchor="ctr"/>
          <a:lstStyle/>
          <a:p>
            <a:pPr indent="0" marL="0">
              <a:spcAft>
                <a:spcPts val="400"/>
              </a:spcAft>
              <a:buNone/>
            </a:pPr>
            <a:r>
              <a:rPr lang="en-US" sz="1500" dirty="0">
                <a:solidFill>
                  <a:srgbClr val="C9D6F7"/>
                </a:solidFill>
              </a:rPr>
              <a:t>Grupo 4 · Agustín Bodas, Máximo Bonarrico y Sergio Casanova</a:t>
            </a:r>
            <a:endParaRPr lang="en-US" sz="1500" dirty="0"/>
          </a:p>
          <a:p>
            <a:pPr indent="0" marL="0">
              <a:spcAft>
                <a:spcPts val="400"/>
              </a:spcAft>
              <a:buNone/>
            </a:pPr>
            <a:r>
              <a:rPr lang="en-US" sz="1500" dirty="0">
                <a:solidFill>
                  <a:srgbClr val="C9D6F7"/>
                </a:solidFill>
              </a:rPr>
              <a:t>Desarrollo de Aplicaciones II · UADE · Comisión Lunes TT · Prof. Matías Ruiz · 19 de octubre de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La pantalla es la misma; lo que pasa después del clic, no</a:t>
            </a:r>
            <a:endParaRPr lang="en-US" sz="3400" dirty="0"/>
          </a:p>
        </p:txBody>
      </p:sp>
      <p:graphicFrame>
        <p:nvGraphicFramePr>
          <p:cNvPr id="3" name="Tabla comparativa"/>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5577840"/>
                <a:gridCol w="2011680"/>
                <a:gridCol w="3474720"/>
              </a:tblGrid>
              <a:tr h="566928">
                <a:tc>
                  <a:txBody>
                    <a:bodyPr/>
                    <a:lstStyle/>
                    <a:p>
                      <a:pPr indent="0" marL="0">
                        <a:buNone/>
                      </a:pPr>
                      <a:r>
                        <a:rPr lang="en-US" sz="1600" b="1" dirty="0">
                          <a:solidFill>
                            <a:schemeClr val="bg1"/>
                          </a:solidFill>
                        </a:rPr>
                        <a:t>Después de tocar “Confirmar turno”</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1A2238"/>
                    </a:solidFill>
                  </a:tcPr>
                </a:tc>
                <a:tc>
                  <a:txBody>
                    <a:bodyPr/>
                    <a:lstStyle/>
                    <a:p>
                      <a:pPr indent="0" marL="0">
                        <a:buNone/>
                      </a:pPr>
                      <a:r>
                        <a:rPr lang="en-US" sz="1600" b="1" dirty="0">
                          <a:solidFill>
                            <a:schemeClr val="bg1"/>
                          </a:solidFill>
                        </a:rPr>
                        <a:t>Entrega 1</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6B7280"/>
                    </a:solidFill>
                  </a:tcPr>
                </a:tc>
                <a:tc>
                  <a:txBody>
                    <a:bodyPr/>
                    <a:lstStyle/>
                    <a:p>
                      <a:pPr indent="0" marL="0">
                        <a:buNone/>
                      </a:pPr>
                      <a:r>
                        <a:rPr lang="en-US" sz="1600" b="1" dirty="0">
                          <a:solidFill>
                            <a:schemeClr val="bg1"/>
                          </a:solidFill>
                        </a:rPr>
                        <a:t>Entrega 2</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2F5FE0"/>
                    </a:solidFill>
                  </a:tcPr>
                </a:tc>
              </a:tr>
              <a:tr h="566928">
                <a:tc>
                  <a:txBody>
                    <a:bodyPr/>
                    <a:lstStyle/>
                    <a:p>
                      <a:pPr indent="0" marL="0">
                        <a:buNone/>
                      </a:pPr>
                      <a:r>
                        <a:rPr lang="en-US" sz="1600" dirty="0">
                          <a:solidFill>
                            <a:schemeClr val="tx1"/>
                          </a:solidFill>
                        </a:rPr>
                        <a:t>Se guarda el turno en la base</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c>
                  <a:txBody>
                    <a:bodyPr/>
                    <a:lstStyle/>
                    <a:p>
                      <a:pPr indent="0" marL="0">
                        <a:buNone/>
                      </a:pPr>
                      <a:r>
                        <a:rPr lang="en-US" sz="1600" b="1" dirty="0">
                          <a:solidFill>
                            <a:schemeClr val="accent2"/>
                          </a:solidFill>
                        </a:rPr>
                        <a:t>Sí</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c>
                  <a:txBody>
                    <a:bodyPr/>
                    <a:lstStyle/>
                    <a:p>
                      <a:pPr indent="0" marL="0">
                        <a:buNone/>
                      </a:pPr>
                      <a:r>
                        <a:rPr lang="en-US" sz="1600" b="1" dirty="0">
                          <a:solidFill>
                            <a:schemeClr val="accent2"/>
                          </a:solidFill>
                        </a:rPr>
                        <a:t>Sí</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r>
              <a:tr h="566928">
                <a:tc>
                  <a:txBody>
                    <a:bodyPr/>
                    <a:lstStyle/>
                    <a:p>
                      <a:pPr indent="0" marL="0">
                        <a:buNone/>
                      </a:pPr>
                      <a:r>
                        <a:rPr lang="en-US" sz="1600" dirty="0">
                          <a:solidFill>
                            <a:schemeClr val="tx1"/>
                          </a:solidFill>
                        </a:rPr>
                        <a:t>Se publica un evento en un broker real (ActiveMQ Artemis)</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c>
                  <a:txBody>
                    <a:bodyPr/>
                    <a:lstStyle/>
                    <a:p>
                      <a:pPr indent="0" marL="0">
                        <a:buNone/>
                      </a:pPr>
                      <a:r>
                        <a:rPr lang="en-US" sz="1600" dirty="0">
                          <a:solidFill>
                            <a:schemeClr val="accent5"/>
                          </a:solidFill>
                        </a:rPr>
                        <a:t>No</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c>
                  <a:txBody>
                    <a:bodyPr/>
                    <a:lstStyle/>
                    <a:p>
                      <a:pPr indent="0" marL="0">
                        <a:buNone/>
                      </a:pPr>
                      <a:r>
                        <a:rPr lang="en-US" sz="1600" b="1" dirty="0">
                          <a:solidFill>
                            <a:schemeClr val="accent2"/>
                          </a:solidFill>
                        </a:rPr>
                        <a:t>Sí, en la misma transacción</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r>
              <a:tr h="566928">
                <a:tc>
                  <a:txBody>
                    <a:bodyPr/>
                    <a:lstStyle/>
                    <a:p>
                      <a:pPr indent="0" marL="0">
                        <a:buNone/>
                      </a:pPr>
                      <a:r>
                        <a:rPr lang="en-US" sz="1600" dirty="0">
                          <a:solidFill>
                            <a:schemeClr val="tx1"/>
                          </a:solidFill>
                        </a:rPr>
                        <a:t>Lo procesan componentes independientes</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c>
                  <a:txBody>
                    <a:bodyPr/>
                    <a:lstStyle/>
                    <a:p>
                      <a:pPr indent="0" marL="0">
                        <a:buNone/>
                      </a:pPr>
                      <a:r>
                        <a:rPr lang="en-US" sz="1600" dirty="0">
                          <a:solidFill>
                            <a:schemeClr val="accent5"/>
                          </a:solidFill>
                        </a:rPr>
                        <a:t>No</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c>
                  <a:txBody>
                    <a:bodyPr/>
                    <a:lstStyle/>
                    <a:p>
                      <a:pPr indent="0" marL="0">
                        <a:buNone/>
                      </a:pPr>
                      <a:r>
                        <a:rPr lang="en-US" sz="1600" b="1" dirty="0">
                          <a:solidFill>
                            <a:schemeClr val="accent2"/>
                          </a:solidFill>
                        </a:rPr>
                        <a:t>Sí, 2 MDB en paralelo</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r>
              <a:tr h="566928">
                <a:tc>
                  <a:txBody>
                    <a:bodyPr/>
                    <a:lstStyle/>
                    <a:p>
                      <a:pPr indent="0" marL="0">
                        <a:buNone/>
                      </a:pPr>
                      <a:r>
                        <a:rPr lang="en-US" sz="1600" dirty="0">
                          <a:solidFill>
                            <a:schemeClr val="tx1"/>
                          </a:solidFill>
                        </a:rPr>
                        <a:t>Le llega un aviso a otro usuario, sin recargar</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c>
                  <a:txBody>
                    <a:bodyPr/>
                    <a:lstStyle/>
                    <a:p>
                      <a:pPr indent="0" marL="0">
                        <a:buNone/>
                      </a:pPr>
                      <a:r>
                        <a:rPr lang="en-US" sz="1600" dirty="0">
                          <a:solidFill>
                            <a:schemeClr val="accent5"/>
                          </a:solidFill>
                        </a:rPr>
                        <a:t>No</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c>
                  <a:txBody>
                    <a:bodyPr/>
                    <a:lstStyle/>
                    <a:p>
                      <a:pPr indent="0" marL="0">
                        <a:buNone/>
                      </a:pPr>
                      <a:r>
                        <a:rPr lang="en-US" sz="1600" b="1" dirty="0">
                          <a:solidFill>
                            <a:schemeClr val="accent2"/>
                          </a:solidFill>
                        </a:rPr>
                        <a:t>Sí, a la profesional</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r>
              <a:tr h="566928">
                <a:tc>
                  <a:txBody>
                    <a:bodyPr/>
                    <a:lstStyle/>
                    <a:p>
                      <a:pPr indent="0" marL="0">
                        <a:buNone/>
                      </a:pPr>
                      <a:r>
                        <a:rPr lang="en-US" sz="1600" dirty="0">
                          <a:solidFill>
                            <a:schemeClr val="tx1"/>
                          </a:solidFill>
                        </a:rPr>
                        <a:t>Se ve en vivo quién lo procesó y cuánto tardó</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c>
                  <a:txBody>
                    <a:bodyPr/>
                    <a:lstStyle/>
                    <a:p>
                      <a:pPr indent="0" marL="0">
                        <a:buNone/>
                      </a:pPr>
                      <a:r>
                        <a:rPr lang="en-US" sz="1600" dirty="0">
                          <a:solidFill>
                            <a:schemeClr val="accent5"/>
                          </a:solidFill>
                        </a:rPr>
                        <a:t>No</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c>
                  <a:txBody>
                    <a:bodyPr/>
                    <a:lstStyle/>
                    <a:p>
                      <a:pPr indent="0" marL="0">
                        <a:buNone/>
                      </a:pPr>
                      <a:r>
                        <a:rPr lang="en-US" sz="1600" b="1" dirty="0">
                          <a:solidFill>
                            <a:schemeClr val="accent2"/>
                          </a:solidFill>
                        </a:rPr>
                        <a:t>Sí, Monitor de eventos</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r>
              <a:tr h="566928">
                <a:tc>
                  <a:txBody>
                    <a:bodyPr/>
                    <a:lstStyle/>
                    <a:p>
                      <a:pPr indent="0" marL="0">
                        <a:buNone/>
                      </a:pPr>
                      <a:r>
                        <a:rPr lang="en-US" sz="1600" dirty="0">
                          <a:solidFill>
                            <a:schemeClr val="tx1"/>
                          </a:solidFill>
                        </a:rPr>
                        <a:t>Resiste fallas: rollback, duplicado, caída y mensaje roto</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c>
                  <a:txBody>
                    <a:bodyPr/>
                    <a:lstStyle/>
                    <a:p>
                      <a:pPr indent="0" marL="0">
                        <a:buNone/>
                      </a:pPr>
                      <a:r>
                        <a:rPr lang="en-US" sz="1600" dirty="0">
                          <a:solidFill>
                            <a:schemeClr val="accent5"/>
                          </a:solidFill>
                        </a:rPr>
                        <a:t>No</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c>
                  <a:txBody>
                    <a:bodyPr/>
                    <a:lstStyle/>
                    <a:p>
                      <a:pPr indent="0" marL="0">
                        <a:buNone/>
                      </a:pPr>
                      <a:r>
                        <a:rPr lang="en-US" sz="1600" b="1" dirty="0">
                          <a:solidFill>
                            <a:schemeClr val="accent2"/>
                          </a:solidFill>
                        </a:rPr>
                        <a:t>Sí, los 4 probados</a:t>
                      </a:r>
                      <a:endParaRPr lang="en-US" sz="1600" dirty="0"/>
                    </a:p>
                  </a:txBody>
                  <a:tcPr marL="137160" marR="137160" marT="0" marB="0" anchor="ctr">
                    <a:lnL w="9525" cap="flat" cmpd="sng" algn="ctr">
                      <a:solidFill>
                        <a:srgbClr val="D5DBEA"/>
                      </a:solidFill>
                      <a:prstDash val="solid"/>
                      <a:round/>
                      <a:headEnd type="none" w="med" len="med"/>
                      <a:tailEnd type="none" w="med" len="med"/>
                    </a:lnL>
                    <a:lnR w="9525" cap="flat" cmpd="sng" algn="ctr">
                      <a:solidFill>
                        <a:srgbClr val="D5DBEA"/>
                      </a:solidFill>
                      <a:prstDash val="solid"/>
                      <a:round/>
                      <a:headEnd type="none" w="med" len="med"/>
                      <a:tailEnd type="none" w="med" len="med"/>
                    </a:lnR>
                    <a:lnT w="9525" cap="flat" cmpd="sng" algn="ctr">
                      <a:solidFill>
                        <a:srgbClr val="D5DBEA"/>
                      </a:solidFill>
                      <a:prstDash val="solid"/>
                      <a:round/>
                      <a:headEnd type="none" w="med" len="med"/>
                      <a:tailEnd type="none" w="med" len="med"/>
                    </a:lnT>
                    <a:lnB w="9525" cap="flat" cmpd="sng" algn="ctr">
                      <a:solidFill>
                        <a:srgbClr val="D5DB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Qué sumamos en esta entrega</a:t>
            </a:r>
            <a:endParaRPr lang="en-US" sz="3400" dirty="0"/>
          </a:p>
        </p:txBody>
      </p:sp>
      <p:sp>
        <p:nvSpPr>
          <p:cNvPr id="3" name="Tarjeta Broker real"/>
          <p:cNvSpPr/>
          <p:nvPr/>
        </p:nvSpPr>
        <p:spPr>
          <a:xfrm>
            <a:off x="548640" y="1645920"/>
            <a:ext cx="2606040" cy="374904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4" name="Broker real círculo"/>
          <p:cNvSpPr/>
          <p:nvPr/>
        </p:nvSpPr>
        <p:spPr>
          <a:xfrm>
            <a:off x="868680" y="2011680"/>
            <a:ext cx="822960" cy="822960"/>
          </a:xfrm>
          <a:prstGeom prst="ellipse">
            <a:avLst/>
          </a:prstGeom>
          <a:solidFill>
            <a:schemeClr val="accent1"/>
          </a:solidFill>
          <a:ln w="12700">
            <a:solidFill>
              <a:schemeClr val="accent1"/>
            </a:solidFill>
            <a:prstDash val="solid"/>
          </a:ln>
        </p:spPr>
      </p:sp>
      <p:pic>
        <p:nvPicPr>
          <p:cNvPr id="5" name="Broker real ícono" descr="preencoded.png">    </p:cNvPr>
          <p:cNvPicPr>
            <a:picLocks noChangeAspect="1"/>
          </p:cNvPicPr>
          <p:nvPr/>
        </p:nvPicPr>
        <p:blipFill>
          <a:blip r:embed="rId1"/>
          <a:stretch>
            <a:fillRect/>
          </a:stretch>
        </p:blipFill>
        <p:spPr>
          <a:xfrm>
            <a:off x="1066190" y="2209190"/>
            <a:ext cx="427939" cy="427939"/>
          </a:xfrm>
          <a:prstGeom prst="rect">
            <a:avLst/>
          </a:prstGeom>
        </p:spPr>
      </p:pic>
      <p:sp>
        <p:nvSpPr>
          <p:cNvPr id="6" name="Título Broker real"/>
          <p:cNvSpPr txBox="1"/>
          <p:nvPr/>
        </p:nvSpPr>
        <p:spPr>
          <a:xfrm>
            <a:off x="868680" y="3063240"/>
            <a:ext cx="1965960" cy="73152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Broker real</a:t>
            </a:r>
            <a:endParaRPr lang="en-US" sz="2100" dirty="0"/>
          </a:p>
        </p:txBody>
      </p:sp>
      <p:sp>
        <p:nvSpPr>
          <p:cNvPr id="7" name="Texto Broker real"/>
          <p:cNvSpPr txBox="1"/>
          <p:nvPr/>
        </p:nvSpPr>
        <p:spPr>
          <a:xfrm>
            <a:off x="868680" y="3840480"/>
            <a:ext cx="1965960" cy="1737360"/>
          </a:xfrm>
          <a:prstGeom prst="rect">
            <a:avLst/>
          </a:prstGeom>
          <a:noFill/>
          <a:ln/>
        </p:spPr>
        <p:txBody>
          <a:bodyPr wrap="square" lIns="0" tIns="0" rIns="0" bIns="0" rtlCol="0" anchor="t"/>
          <a:lstStyle/>
          <a:p>
            <a:pPr indent="0" marL="0">
              <a:buNone/>
            </a:pPr>
            <a:r>
              <a:rPr lang="en-US" sz="1500" dirty="0">
                <a:solidFill>
                  <a:schemeClr val="tx1"/>
                </a:solidFill>
              </a:rPr>
              <a:t>ActiveMQ Artemis dentro de WildFly, con el tópico turnos y su cola de mensajes fallidos</a:t>
            </a:r>
            <a:endParaRPr lang="en-US" sz="1500" dirty="0"/>
          </a:p>
        </p:txBody>
      </p:sp>
      <p:sp>
        <p:nvSpPr>
          <p:cNvPr id="8" name="Tarjeta Proceso de punta a punta"/>
          <p:cNvSpPr/>
          <p:nvPr/>
        </p:nvSpPr>
        <p:spPr>
          <a:xfrm>
            <a:off x="3383280" y="1645920"/>
            <a:ext cx="2606040" cy="374904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9" name="Proceso de punta a punta círculo"/>
          <p:cNvSpPr/>
          <p:nvPr/>
        </p:nvSpPr>
        <p:spPr>
          <a:xfrm>
            <a:off x="3703320" y="2011680"/>
            <a:ext cx="822960" cy="822960"/>
          </a:xfrm>
          <a:prstGeom prst="ellipse">
            <a:avLst/>
          </a:prstGeom>
          <a:solidFill>
            <a:schemeClr val="accent4"/>
          </a:solidFill>
          <a:ln w="12700">
            <a:solidFill>
              <a:schemeClr val="accent4"/>
            </a:solidFill>
            <a:prstDash val="solid"/>
          </a:ln>
        </p:spPr>
      </p:sp>
      <p:pic>
        <p:nvPicPr>
          <p:cNvPr id="10" name="Proceso de punta a punta ícono" descr="preencoded.png">    </p:cNvPr>
          <p:cNvPicPr>
            <a:picLocks noChangeAspect="1"/>
          </p:cNvPicPr>
          <p:nvPr/>
        </p:nvPicPr>
        <p:blipFill>
          <a:blip r:embed="rId2"/>
          <a:stretch>
            <a:fillRect/>
          </a:stretch>
        </p:blipFill>
        <p:spPr>
          <a:xfrm>
            <a:off x="3900830" y="2209190"/>
            <a:ext cx="427939" cy="427939"/>
          </a:xfrm>
          <a:prstGeom prst="rect">
            <a:avLst/>
          </a:prstGeom>
        </p:spPr>
      </p:pic>
      <p:sp>
        <p:nvSpPr>
          <p:cNvPr id="11" name="Título Proceso de punta a punta"/>
          <p:cNvSpPr txBox="1"/>
          <p:nvPr/>
        </p:nvSpPr>
        <p:spPr>
          <a:xfrm>
            <a:off x="3703320" y="3063240"/>
            <a:ext cx="1965960" cy="73152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Proceso de punta a punta</a:t>
            </a:r>
            <a:endParaRPr lang="en-US" sz="2100" dirty="0"/>
          </a:p>
        </p:txBody>
      </p:sp>
      <p:sp>
        <p:nvSpPr>
          <p:cNvPr id="12" name="Texto Proceso de punta a punta"/>
          <p:cNvSpPr txBox="1"/>
          <p:nvPr/>
        </p:nvSpPr>
        <p:spPr>
          <a:xfrm>
            <a:off x="3703320" y="3840480"/>
            <a:ext cx="1965960" cy="1737360"/>
          </a:xfrm>
          <a:prstGeom prst="rect">
            <a:avLst/>
          </a:prstGeom>
          <a:noFill/>
          <a:ln/>
        </p:spPr>
        <p:txBody>
          <a:bodyPr wrap="square" lIns="0" tIns="0" rIns="0" bIns="0" rtlCol="0" anchor="t"/>
          <a:lstStyle/>
          <a:p>
            <a:pPr indent="0" marL="0">
              <a:buNone/>
            </a:pPr>
            <a:r>
              <a:rPr lang="en-US" sz="1500" dirty="0">
                <a:solidFill>
                  <a:schemeClr val="tx1"/>
                </a:solidFill>
              </a:rPr>
              <a:t>Confirmar o cancelar un turno dispara notificaciones y auditoría en paralelo</a:t>
            </a:r>
            <a:endParaRPr lang="en-US" sz="1500" dirty="0"/>
          </a:p>
        </p:txBody>
      </p:sp>
      <p:sp>
        <p:nvSpPr>
          <p:cNvPr id="13" name="Tarjeta Bandeja en la app"/>
          <p:cNvSpPr/>
          <p:nvPr/>
        </p:nvSpPr>
        <p:spPr>
          <a:xfrm>
            <a:off x="6217920" y="1645920"/>
            <a:ext cx="2606040" cy="374904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14" name="Bandeja en la app círculo"/>
          <p:cNvSpPr/>
          <p:nvPr/>
        </p:nvSpPr>
        <p:spPr>
          <a:xfrm>
            <a:off x="6537960" y="2011680"/>
            <a:ext cx="822960" cy="822960"/>
          </a:xfrm>
          <a:prstGeom prst="ellipse">
            <a:avLst/>
          </a:prstGeom>
          <a:solidFill>
            <a:schemeClr val="accent3"/>
          </a:solidFill>
          <a:ln w="12700">
            <a:solidFill>
              <a:schemeClr val="accent3"/>
            </a:solidFill>
            <a:prstDash val="solid"/>
          </a:ln>
        </p:spPr>
      </p:sp>
      <p:pic>
        <p:nvPicPr>
          <p:cNvPr id="15" name="Bandeja en la app ícono" descr="preencoded.png">    </p:cNvPr>
          <p:cNvPicPr>
            <a:picLocks noChangeAspect="1"/>
          </p:cNvPicPr>
          <p:nvPr/>
        </p:nvPicPr>
        <p:blipFill>
          <a:blip r:embed="rId3"/>
          <a:stretch>
            <a:fillRect/>
          </a:stretch>
        </p:blipFill>
        <p:spPr>
          <a:xfrm>
            <a:off x="6735470" y="2209190"/>
            <a:ext cx="427939" cy="427939"/>
          </a:xfrm>
          <a:prstGeom prst="rect">
            <a:avLst/>
          </a:prstGeom>
        </p:spPr>
      </p:pic>
      <p:sp>
        <p:nvSpPr>
          <p:cNvPr id="16" name="Título Bandeja en la app"/>
          <p:cNvSpPr txBox="1"/>
          <p:nvPr/>
        </p:nvSpPr>
        <p:spPr>
          <a:xfrm>
            <a:off x="6537960" y="3063240"/>
            <a:ext cx="1965960" cy="73152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Bandeja en la app</a:t>
            </a:r>
            <a:endParaRPr lang="en-US" sz="2100" dirty="0"/>
          </a:p>
        </p:txBody>
      </p:sp>
      <p:sp>
        <p:nvSpPr>
          <p:cNvPr id="17" name="Texto Bandeja en la app"/>
          <p:cNvSpPr txBox="1"/>
          <p:nvPr/>
        </p:nvSpPr>
        <p:spPr>
          <a:xfrm>
            <a:off x="6537960" y="3840480"/>
            <a:ext cx="1965960" cy="1737360"/>
          </a:xfrm>
          <a:prstGeom prst="rect">
            <a:avLst/>
          </a:prstGeom>
          <a:noFill/>
          <a:ln/>
        </p:spPr>
        <p:txBody>
          <a:bodyPr wrap="square" lIns="0" tIns="0" rIns="0" bIns="0" rtlCol="0" anchor="t"/>
          <a:lstStyle/>
          <a:p>
            <a:pPr indent="0" marL="0">
              <a:buNone/>
            </a:pPr>
            <a:r>
              <a:rPr lang="en-US" sz="1500" dirty="0">
                <a:solidFill>
                  <a:schemeClr val="tx1"/>
                </a:solidFill>
              </a:rPr>
              <a:t>Email al paciente, aviso al profesional y contador de no leídas que se actualiza solo</a:t>
            </a:r>
            <a:endParaRPr lang="en-US" sz="1500" dirty="0"/>
          </a:p>
        </p:txBody>
      </p:sp>
      <p:sp>
        <p:nvSpPr>
          <p:cNvPr id="18" name="Tarjeta Probado ante fallas"/>
          <p:cNvSpPr/>
          <p:nvPr/>
        </p:nvSpPr>
        <p:spPr>
          <a:xfrm>
            <a:off x="9052560" y="1645920"/>
            <a:ext cx="2606040" cy="374904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19" name="Probado ante fallas círculo"/>
          <p:cNvSpPr/>
          <p:nvPr/>
        </p:nvSpPr>
        <p:spPr>
          <a:xfrm>
            <a:off x="9372600" y="2011680"/>
            <a:ext cx="822960" cy="822960"/>
          </a:xfrm>
          <a:prstGeom prst="ellipse">
            <a:avLst/>
          </a:prstGeom>
          <a:solidFill>
            <a:schemeClr val="accent2"/>
          </a:solidFill>
          <a:ln w="12700">
            <a:solidFill>
              <a:schemeClr val="accent2"/>
            </a:solidFill>
            <a:prstDash val="solid"/>
          </a:ln>
        </p:spPr>
      </p:sp>
      <p:pic>
        <p:nvPicPr>
          <p:cNvPr id="20" name="Probado ante fallas ícono" descr="preencoded.png">    </p:cNvPr>
          <p:cNvPicPr>
            <a:picLocks noChangeAspect="1"/>
          </p:cNvPicPr>
          <p:nvPr/>
        </p:nvPicPr>
        <p:blipFill>
          <a:blip r:embed="rId4"/>
          <a:stretch>
            <a:fillRect/>
          </a:stretch>
        </p:blipFill>
        <p:spPr>
          <a:xfrm>
            <a:off x="9570110" y="2209190"/>
            <a:ext cx="427939" cy="427939"/>
          </a:xfrm>
          <a:prstGeom prst="rect">
            <a:avLst/>
          </a:prstGeom>
        </p:spPr>
      </p:pic>
      <p:sp>
        <p:nvSpPr>
          <p:cNvPr id="21" name="Título Probado ante fallas"/>
          <p:cNvSpPr txBox="1"/>
          <p:nvPr/>
        </p:nvSpPr>
        <p:spPr>
          <a:xfrm>
            <a:off x="9372600" y="3063240"/>
            <a:ext cx="1965960" cy="73152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Probado ante fallas</a:t>
            </a:r>
            <a:endParaRPr lang="en-US" sz="2100" dirty="0"/>
          </a:p>
        </p:txBody>
      </p:sp>
      <p:sp>
        <p:nvSpPr>
          <p:cNvPr id="22" name="Texto Probado ante fallas"/>
          <p:cNvSpPr txBox="1"/>
          <p:nvPr/>
        </p:nvSpPr>
        <p:spPr>
          <a:xfrm>
            <a:off x="9372600" y="3840480"/>
            <a:ext cx="1965960" cy="1737360"/>
          </a:xfrm>
          <a:prstGeom prst="rect">
            <a:avLst/>
          </a:prstGeom>
          <a:noFill/>
          <a:ln/>
        </p:spPr>
        <p:txBody>
          <a:bodyPr wrap="square" lIns="0" tIns="0" rIns="0" bIns="0" rtlCol="0" anchor="t"/>
          <a:lstStyle/>
          <a:p>
            <a:pPr indent="0" marL="0">
              <a:buNone/>
            </a:pPr>
            <a:r>
              <a:rPr lang="en-US" sz="1500" dirty="0">
                <a:solidFill>
                  <a:schemeClr val="tx1"/>
                </a:solidFill>
              </a:rPr>
              <a:t>Rollback, duplicados, suscriptor caído y mensaje roto: los cuatro casos verificados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Un clic del paciente, dos reacciones independientes</a:t>
            </a:r>
            <a:endParaRPr lang="en-US" sz="3400" dirty="0"/>
          </a:p>
        </p:txBody>
      </p:sp>
      <p:sp>
        <p:nvSpPr>
          <p:cNvPr id="3" name="Zona transacción"/>
          <p:cNvSpPr/>
          <p:nvPr/>
        </p:nvSpPr>
        <p:spPr>
          <a:xfrm>
            <a:off x="2148840" y="1600200"/>
            <a:ext cx="4343400" cy="2011680"/>
          </a:xfrm>
          <a:prstGeom prst="roundRect">
            <a:avLst>
              <a:gd name="adj" fmla="val 4545"/>
            </a:avLst>
          </a:prstGeom>
          <a:solidFill>
            <a:schemeClr val="bg2"/>
          </a:solidFill>
          <a:ln w="15875">
            <a:solidFill>
              <a:srgbClr val="2F5FE0"/>
            </a:solidFill>
            <a:prstDash val="dash"/>
          </a:ln>
        </p:spPr>
      </p:sp>
      <p:sp>
        <p:nvSpPr>
          <p:cNvPr id="4" name="Etiqueta transacción"/>
          <p:cNvSpPr txBox="1"/>
          <p:nvPr/>
        </p:nvSpPr>
        <p:spPr>
          <a:xfrm>
            <a:off x="2286000" y="1645920"/>
            <a:ext cx="4069080" cy="365760"/>
          </a:xfrm>
          <a:prstGeom prst="rect">
            <a:avLst/>
          </a:prstGeom>
          <a:noFill/>
          <a:ln/>
        </p:spPr>
        <p:txBody>
          <a:bodyPr wrap="square" lIns="0" tIns="0" rIns="0" bIns="0" rtlCol="0" anchor="ctr"/>
          <a:lstStyle/>
          <a:p>
            <a:pPr indent="0" marL="0">
              <a:buNone/>
            </a:pPr>
            <a:r>
              <a:rPr lang="en-US" sz="1200" i="1" dirty="0">
                <a:solidFill>
                  <a:schemeClr val="accent1"/>
                </a:solidFill>
              </a:rPr>
              <a:t>Una sola transacción: el mensaje sale recién con el commit</a:t>
            </a:r>
            <a:endParaRPr lang="en-US" sz="1200" dirty="0"/>
          </a:p>
        </p:txBody>
      </p:sp>
      <p:sp>
        <p:nvSpPr>
          <p:cNvPr id="5" name="Paciente"/>
          <p:cNvSpPr/>
          <p:nvPr/>
        </p:nvSpPr>
        <p:spPr>
          <a:xfrm>
            <a:off x="548640" y="2148840"/>
            <a:ext cx="1371600" cy="1005840"/>
          </a:xfrm>
          <a:prstGeom prst="roundRect">
            <a:avLst>
              <a:gd name="adj" fmla="val 9091"/>
            </a:avLst>
          </a:prstGeom>
          <a:solidFill>
            <a:schemeClr val="tx1"/>
          </a:solidFill>
          <a:ln w="12700">
            <a:solidFill>
              <a:schemeClr val="tx1"/>
            </a:solidFill>
            <a:prstDash val="solid"/>
          </a:ln>
          <a:effectLst>
            <a:outerShdw sx="100000" sy="100000" kx="0" ky="0" algn="bl" rotWithShape="0" blurRad="101600" dist="25400" dir="5400000">
              <a:srgbClr val="1A2238">
                <a:alpha val="12000"/>
              </a:srgbClr>
            </a:outerShdw>
          </a:effectLst>
        </p:spPr>
      </p:sp>
      <p:sp>
        <p:nvSpPr>
          <p:cNvPr id="6" name="Paciente texto"/>
          <p:cNvSpPr txBox="1"/>
          <p:nvPr/>
        </p:nvSpPr>
        <p:spPr>
          <a:xfrm>
            <a:off x="685800" y="2148840"/>
            <a:ext cx="1097280" cy="1005840"/>
          </a:xfrm>
          <a:prstGeom prst="rect">
            <a:avLst/>
          </a:prstGeom>
          <a:noFill/>
          <a:ln/>
        </p:spPr>
        <p:txBody>
          <a:bodyPr wrap="square" lIns="0" tIns="0" rIns="0" bIns="0" rtlCol="0" anchor="ctr"/>
          <a:lstStyle/>
          <a:p>
            <a:pPr algn="ctr" indent="0" marL="0">
              <a:buNone/>
            </a:pPr>
            <a:r>
              <a:rPr lang="en-US" sz="1700" b="1" dirty="0">
                <a:solidFill>
                  <a:schemeClr val="bg1"/>
                </a:solidFill>
              </a:rPr>
              <a:t>Paciente</a:t>
            </a:r>
            <a:endParaRPr lang="en-US" sz="1700" dirty="0"/>
          </a:p>
          <a:p>
            <a:pPr algn="ctr" indent="0" marL="0">
              <a:buNone/>
            </a:pPr>
            <a:r>
              <a:rPr lang="en-US" sz="1300" dirty="0">
                <a:solidFill>
                  <a:schemeClr val="bg1"/>
                </a:solidFill>
              </a:rPr>
              <a:t>confirma</a:t>
            </a:r>
            <a:endParaRPr lang="en-US" sz="1700" dirty="0"/>
          </a:p>
        </p:txBody>
      </p:sp>
      <p:sp>
        <p:nvSpPr>
          <p:cNvPr id="7" name="Servicio de turnos"/>
          <p:cNvSpPr/>
          <p:nvPr/>
        </p:nvSpPr>
        <p:spPr>
          <a:xfrm>
            <a:off x="2377440" y="2148840"/>
            <a:ext cx="1828800" cy="1143000"/>
          </a:xfrm>
          <a:prstGeom prst="roundRect">
            <a:avLst>
              <a:gd name="adj" fmla="val 8000"/>
            </a:avLst>
          </a:prstGeom>
          <a:solidFill>
            <a:schemeClr val="accent1"/>
          </a:solidFill>
          <a:ln w="12700">
            <a:solidFill>
              <a:schemeClr val="accent1"/>
            </a:solidFill>
            <a:prstDash val="solid"/>
          </a:ln>
          <a:effectLst>
            <a:outerShdw sx="100000" sy="100000" kx="0" ky="0" algn="bl" rotWithShape="0" blurRad="101600" dist="25400" dir="5400000">
              <a:srgbClr val="1A2238">
                <a:alpha val="12000"/>
              </a:srgbClr>
            </a:outerShdw>
          </a:effectLst>
        </p:spPr>
      </p:sp>
      <p:sp>
        <p:nvSpPr>
          <p:cNvPr id="8" name="Servicio de turnos texto"/>
          <p:cNvSpPr txBox="1"/>
          <p:nvPr/>
        </p:nvSpPr>
        <p:spPr>
          <a:xfrm>
            <a:off x="2514600" y="2148840"/>
            <a:ext cx="1554480" cy="1143000"/>
          </a:xfrm>
          <a:prstGeom prst="rect">
            <a:avLst/>
          </a:prstGeom>
          <a:noFill/>
          <a:ln/>
        </p:spPr>
        <p:txBody>
          <a:bodyPr wrap="square" lIns="0" tIns="0" rIns="0" bIns="0" rtlCol="0" anchor="ctr"/>
          <a:lstStyle/>
          <a:p>
            <a:pPr algn="ctr" indent="0" marL="0">
              <a:buNone/>
            </a:pPr>
            <a:r>
              <a:rPr lang="en-US" sz="1700" b="1" dirty="0">
                <a:solidFill>
                  <a:schemeClr val="bg1"/>
                </a:solidFill>
              </a:rPr>
              <a:t>Servicio de turnos</a:t>
            </a:r>
            <a:endParaRPr lang="en-US" sz="1700" dirty="0"/>
          </a:p>
          <a:p>
            <a:pPr algn="ctr" indent="0" marL="0">
              <a:buNone/>
            </a:pPr>
            <a:r>
              <a:rPr lang="en-US" sz="1300" dirty="0">
                <a:solidFill>
                  <a:schemeClr val="bg1"/>
                </a:solidFill>
              </a:rPr>
              <a:t>@Stateful</a:t>
            </a:r>
            <a:endParaRPr lang="en-US" sz="1700" dirty="0"/>
          </a:p>
        </p:txBody>
      </p:sp>
      <p:sp>
        <p:nvSpPr>
          <p:cNvPr id="9" name="Publicador"/>
          <p:cNvSpPr/>
          <p:nvPr/>
        </p:nvSpPr>
        <p:spPr>
          <a:xfrm>
            <a:off x="4526280" y="2148840"/>
            <a:ext cx="1783080" cy="1143000"/>
          </a:xfrm>
          <a:prstGeom prst="roundRect">
            <a:avLst>
              <a:gd name="adj" fmla="val 8000"/>
            </a:avLst>
          </a:prstGeom>
          <a:solidFill>
            <a:schemeClr val="accent1"/>
          </a:solidFill>
          <a:ln w="12700">
            <a:solidFill>
              <a:schemeClr val="accent1"/>
            </a:solidFill>
            <a:prstDash val="solid"/>
          </a:ln>
          <a:effectLst>
            <a:outerShdw sx="100000" sy="100000" kx="0" ky="0" algn="bl" rotWithShape="0" blurRad="101600" dist="25400" dir="5400000">
              <a:srgbClr val="1A2238">
                <a:alpha val="12000"/>
              </a:srgbClr>
            </a:outerShdw>
          </a:effectLst>
        </p:spPr>
      </p:sp>
      <p:sp>
        <p:nvSpPr>
          <p:cNvPr id="10" name="Publicador texto"/>
          <p:cNvSpPr txBox="1"/>
          <p:nvPr/>
        </p:nvSpPr>
        <p:spPr>
          <a:xfrm>
            <a:off x="4663440" y="2148840"/>
            <a:ext cx="1508760" cy="1143000"/>
          </a:xfrm>
          <a:prstGeom prst="rect">
            <a:avLst/>
          </a:prstGeom>
          <a:noFill/>
          <a:ln/>
        </p:spPr>
        <p:txBody>
          <a:bodyPr wrap="square" lIns="0" tIns="0" rIns="0" bIns="0" rtlCol="0" anchor="ctr"/>
          <a:lstStyle/>
          <a:p>
            <a:pPr algn="ctr" indent="0" marL="0">
              <a:buNone/>
            </a:pPr>
            <a:r>
              <a:rPr lang="en-US" sz="1700" b="1" dirty="0">
                <a:solidFill>
                  <a:schemeClr val="bg1"/>
                </a:solidFill>
              </a:rPr>
              <a:t>Publicador de eventos</a:t>
            </a:r>
            <a:endParaRPr lang="en-US" sz="1700" dirty="0"/>
          </a:p>
          <a:p>
            <a:pPr algn="ctr" indent="0" marL="0">
              <a:buNone/>
            </a:pPr>
            <a:r>
              <a:rPr lang="en-US" sz="1300" dirty="0">
                <a:solidFill>
                  <a:schemeClr val="bg1"/>
                </a:solidFill>
              </a:rPr>
              <a:t>JMS · EventoTurno</a:t>
            </a:r>
            <a:endParaRPr lang="en-US" sz="1700" dirty="0"/>
          </a:p>
        </p:txBody>
      </p:sp>
      <p:sp>
        <p:nvSpPr>
          <p:cNvPr id="11" name="Tópico"/>
          <p:cNvSpPr/>
          <p:nvPr/>
        </p:nvSpPr>
        <p:spPr>
          <a:xfrm>
            <a:off x="6949440" y="2148840"/>
            <a:ext cx="1600200" cy="1143000"/>
          </a:xfrm>
          <a:prstGeom prst="roundRect">
            <a:avLst>
              <a:gd name="adj" fmla="val 8000"/>
            </a:avLst>
          </a:prstGeom>
          <a:solidFill>
            <a:schemeClr val="accent4"/>
          </a:solidFill>
          <a:ln w="12700">
            <a:solidFill>
              <a:schemeClr val="accent4"/>
            </a:solidFill>
            <a:prstDash val="solid"/>
          </a:ln>
          <a:effectLst>
            <a:outerShdw sx="100000" sy="100000" kx="0" ky="0" algn="bl" rotWithShape="0" blurRad="101600" dist="25400" dir="5400000">
              <a:srgbClr val="1A2238">
                <a:alpha val="12000"/>
              </a:srgbClr>
            </a:outerShdw>
          </a:effectLst>
        </p:spPr>
      </p:sp>
      <p:sp>
        <p:nvSpPr>
          <p:cNvPr id="12" name="Tópico texto"/>
          <p:cNvSpPr txBox="1"/>
          <p:nvPr/>
        </p:nvSpPr>
        <p:spPr>
          <a:xfrm>
            <a:off x="7086600" y="2148840"/>
            <a:ext cx="1325880" cy="1143000"/>
          </a:xfrm>
          <a:prstGeom prst="rect">
            <a:avLst/>
          </a:prstGeom>
          <a:noFill/>
          <a:ln/>
        </p:spPr>
        <p:txBody>
          <a:bodyPr wrap="square" lIns="0" tIns="0" rIns="0" bIns="0" rtlCol="0" anchor="ctr"/>
          <a:lstStyle/>
          <a:p>
            <a:pPr algn="ctr" indent="0" marL="0">
              <a:buNone/>
            </a:pPr>
            <a:r>
              <a:rPr lang="en-US" sz="1700" b="1" dirty="0">
                <a:solidFill>
                  <a:schemeClr val="bg1"/>
                </a:solidFill>
              </a:rPr>
              <a:t>topico.turnos</a:t>
            </a:r>
            <a:endParaRPr lang="en-US" sz="1700" dirty="0"/>
          </a:p>
          <a:p>
            <a:pPr algn="ctr" indent="0" marL="0">
              <a:buNone/>
            </a:pPr>
            <a:r>
              <a:rPr lang="en-US" sz="1300" dirty="0">
                <a:solidFill>
                  <a:schemeClr val="bg1"/>
                </a:solidFill>
              </a:rPr>
              <a:t>Artemis</a:t>
            </a:r>
            <a:endParaRPr lang="en-US" sz="1700" dirty="0"/>
          </a:p>
        </p:txBody>
      </p:sp>
      <p:sp>
        <p:nvSpPr>
          <p:cNvPr id="13" name="Suscriptor notificaciones"/>
          <p:cNvSpPr/>
          <p:nvPr/>
        </p:nvSpPr>
        <p:spPr>
          <a:xfrm>
            <a:off x="9144000" y="1463040"/>
            <a:ext cx="2514600" cy="1188720"/>
          </a:xfrm>
          <a:prstGeom prst="roundRect">
            <a:avLst>
              <a:gd name="adj" fmla="val 7692"/>
            </a:avLst>
          </a:prstGeom>
          <a:solidFill>
            <a:schemeClr val="accent3"/>
          </a:solidFill>
          <a:ln w="12700">
            <a:solidFill>
              <a:schemeClr val="accent3"/>
            </a:solidFill>
            <a:prstDash val="solid"/>
          </a:ln>
          <a:effectLst>
            <a:outerShdw sx="100000" sy="100000" kx="0" ky="0" algn="bl" rotWithShape="0" blurRad="101600" dist="25400" dir="5400000">
              <a:srgbClr val="1A2238">
                <a:alpha val="12000"/>
              </a:srgbClr>
            </a:outerShdw>
          </a:effectLst>
        </p:spPr>
      </p:sp>
      <p:sp>
        <p:nvSpPr>
          <p:cNvPr id="14" name="Suscriptor notificaciones texto"/>
          <p:cNvSpPr txBox="1"/>
          <p:nvPr/>
        </p:nvSpPr>
        <p:spPr>
          <a:xfrm>
            <a:off x="9281160" y="1463040"/>
            <a:ext cx="2240280" cy="1188720"/>
          </a:xfrm>
          <a:prstGeom prst="rect">
            <a:avLst/>
          </a:prstGeom>
          <a:noFill/>
          <a:ln/>
        </p:spPr>
        <p:txBody>
          <a:bodyPr wrap="square" lIns="0" tIns="0" rIns="0" bIns="0" rtlCol="0" anchor="ctr"/>
          <a:lstStyle/>
          <a:p>
            <a:pPr algn="ctr" indent="0" marL="0">
              <a:buNone/>
            </a:pPr>
            <a:r>
              <a:rPr lang="en-US" sz="1700" b="1" dirty="0">
                <a:solidFill>
                  <a:schemeClr val="bg1"/>
                </a:solidFill>
              </a:rPr>
              <a:t>Notificaciones</a:t>
            </a:r>
            <a:endParaRPr lang="en-US" sz="1700" dirty="0"/>
          </a:p>
          <a:p>
            <a:pPr algn="ctr" indent="0" marL="0">
              <a:buNone/>
            </a:pPr>
            <a:r>
              <a:rPr lang="en-US" sz="1300" dirty="0">
                <a:solidFill>
                  <a:schemeClr val="bg1"/>
                </a:solidFill>
              </a:rPr>
              <a:t>email al paciente + aviso al profesional</a:t>
            </a:r>
            <a:endParaRPr lang="en-US" sz="1700" dirty="0"/>
          </a:p>
        </p:txBody>
      </p:sp>
      <p:sp>
        <p:nvSpPr>
          <p:cNvPr id="15" name="Suscriptor auditoría"/>
          <p:cNvSpPr/>
          <p:nvPr/>
        </p:nvSpPr>
        <p:spPr>
          <a:xfrm>
            <a:off x="9144000" y="3017520"/>
            <a:ext cx="2514600" cy="1188720"/>
          </a:xfrm>
          <a:prstGeom prst="roundRect">
            <a:avLst>
              <a:gd name="adj" fmla="val 7692"/>
            </a:avLst>
          </a:prstGeom>
          <a:solidFill>
            <a:schemeClr val="accent2"/>
          </a:solidFill>
          <a:ln w="12700">
            <a:solidFill>
              <a:schemeClr val="accent2"/>
            </a:solidFill>
            <a:prstDash val="solid"/>
          </a:ln>
          <a:effectLst>
            <a:outerShdw sx="100000" sy="100000" kx="0" ky="0" algn="bl" rotWithShape="0" blurRad="101600" dist="25400" dir="5400000">
              <a:srgbClr val="1A2238">
                <a:alpha val="12000"/>
              </a:srgbClr>
            </a:outerShdw>
          </a:effectLst>
        </p:spPr>
      </p:sp>
      <p:sp>
        <p:nvSpPr>
          <p:cNvPr id="16" name="Suscriptor auditoría texto"/>
          <p:cNvSpPr txBox="1"/>
          <p:nvPr/>
        </p:nvSpPr>
        <p:spPr>
          <a:xfrm>
            <a:off x="9281160" y="3017520"/>
            <a:ext cx="2240280" cy="1188720"/>
          </a:xfrm>
          <a:prstGeom prst="rect">
            <a:avLst/>
          </a:prstGeom>
          <a:noFill/>
          <a:ln/>
        </p:spPr>
        <p:txBody>
          <a:bodyPr wrap="square" lIns="0" tIns="0" rIns="0" bIns="0" rtlCol="0" anchor="ctr"/>
          <a:lstStyle/>
          <a:p>
            <a:pPr algn="ctr" indent="0" marL="0">
              <a:buNone/>
            </a:pPr>
            <a:r>
              <a:rPr lang="en-US" sz="1700" b="1" dirty="0">
                <a:solidFill>
                  <a:schemeClr val="bg1"/>
                </a:solidFill>
              </a:rPr>
              <a:t>Auditoría</a:t>
            </a:r>
            <a:endParaRPr lang="en-US" sz="1700" dirty="0"/>
          </a:p>
          <a:p>
            <a:pPr algn="ctr" indent="0" marL="0">
              <a:buNone/>
            </a:pPr>
            <a:r>
              <a:rPr lang="en-US" sz="1300" dirty="0">
                <a:solidFill>
                  <a:schemeClr val="bg1"/>
                </a:solidFill>
              </a:rPr>
              <a:t>registro de cada cambio</a:t>
            </a:r>
            <a:endParaRPr lang="en-US" sz="1700" dirty="0"/>
          </a:p>
        </p:txBody>
      </p:sp>
      <p:sp>
        <p:nvSpPr>
          <p:cNvPr id="17" name="Flecha paciente-servicio"/>
          <p:cNvSpPr/>
          <p:nvPr/>
        </p:nvSpPr>
        <p:spPr>
          <a:xfrm>
            <a:off x="1920240" y="2697480"/>
            <a:ext cx="457200" cy="0"/>
          </a:xfrm>
          <a:prstGeom prst="line">
            <a:avLst/>
          </a:prstGeom>
          <a:noFill/>
          <a:ln w="25400">
            <a:solidFill>
              <a:srgbClr val="6B7280"/>
            </a:solidFill>
            <a:prstDash val="solid"/>
            <a:tailEnd type="triangle"/>
          </a:ln>
        </p:spPr>
      </p:sp>
      <p:sp>
        <p:nvSpPr>
          <p:cNvPr id="18" name="Flecha servicio-publicador"/>
          <p:cNvSpPr/>
          <p:nvPr/>
        </p:nvSpPr>
        <p:spPr>
          <a:xfrm>
            <a:off x="4206240" y="2697480"/>
            <a:ext cx="320040" cy="0"/>
          </a:xfrm>
          <a:prstGeom prst="line">
            <a:avLst/>
          </a:prstGeom>
          <a:noFill/>
          <a:ln w="25400">
            <a:solidFill>
              <a:srgbClr val="6B7280"/>
            </a:solidFill>
            <a:prstDash val="solid"/>
            <a:tailEnd type="triangle"/>
          </a:ln>
        </p:spPr>
      </p:sp>
      <p:sp>
        <p:nvSpPr>
          <p:cNvPr id="19" name="Flecha publicador-tópico"/>
          <p:cNvSpPr/>
          <p:nvPr/>
        </p:nvSpPr>
        <p:spPr>
          <a:xfrm>
            <a:off x="6309360" y="2697480"/>
            <a:ext cx="640080" cy="0"/>
          </a:xfrm>
          <a:prstGeom prst="line">
            <a:avLst/>
          </a:prstGeom>
          <a:noFill/>
          <a:ln w="25400">
            <a:solidFill>
              <a:srgbClr val="6B7280"/>
            </a:solidFill>
            <a:prstDash val="solid"/>
            <a:tailEnd type="triangle"/>
          </a:ln>
        </p:spPr>
      </p:sp>
      <p:sp>
        <p:nvSpPr>
          <p:cNvPr id="20" name="Flecha tópico-notificaciones"/>
          <p:cNvSpPr/>
          <p:nvPr/>
        </p:nvSpPr>
        <p:spPr>
          <a:xfrm flipV="1">
            <a:off x="8549640" y="2057400"/>
            <a:ext cx="594360" cy="502920"/>
          </a:xfrm>
          <a:prstGeom prst="line">
            <a:avLst/>
          </a:prstGeom>
          <a:noFill/>
          <a:ln w="25400">
            <a:solidFill>
              <a:srgbClr val="6B7280"/>
            </a:solidFill>
            <a:prstDash val="dash"/>
            <a:tailEnd type="triangle"/>
          </a:ln>
        </p:spPr>
      </p:sp>
      <p:sp>
        <p:nvSpPr>
          <p:cNvPr id="21" name="Flecha tópico-auditoría"/>
          <p:cNvSpPr/>
          <p:nvPr/>
        </p:nvSpPr>
        <p:spPr>
          <a:xfrm>
            <a:off x="8549640" y="2834640"/>
            <a:ext cx="594360" cy="777240"/>
          </a:xfrm>
          <a:prstGeom prst="line">
            <a:avLst/>
          </a:prstGeom>
          <a:noFill/>
          <a:ln w="25400">
            <a:solidFill>
              <a:srgbClr val="6B7280"/>
            </a:solidFill>
            <a:prstDash val="dash"/>
            <a:tailEnd type="triangle"/>
          </a:ln>
        </p:spPr>
      </p:sp>
      <p:sp>
        <p:nvSpPr>
          <p:cNvPr id="22" name="Respuesta número"/>
          <p:cNvSpPr txBox="1"/>
          <p:nvPr/>
        </p:nvSpPr>
        <p:spPr>
          <a:xfrm>
            <a:off x="548640" y="4572000"/>
            <a:ext cx="3474720" cy="86868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1,5 s</a:t>
            </a:r>
            <a:endParaRPr lang="en-US" sz="4400" dirty="0"/>
          </a:p>
        </p:txBody>
      </p:sp>
      <p:sp>
        <p:nvSpPr>
          <p:cNvPr id="23" name="Respuesta texto"/>
          <p:cNvSpPr txBox="1"/>
          <p:nvPr/>
        </p:nvSpPr>
        <p:spPr>
          <a:xfrm>
            <a:off x="548640" y="5440680"/>
            <a:ext cx="3474720" cy="640080"/>
          </a:xfrm>
          <a:prstGeom prst="rect">
            <a:avLst/>
          </a:prstGeom>
          <a:noFill/>
          <a:ln/>
        </p:spPr>
        <p:txBody>
          <a:bodyPr wrap="square" lIns="0" tIns="0" rIns="0" bIns="0" rtlCol="0" anchor="t"/>
          <a:lstStyle/>
          <a:p>
            <a:pPr indent="0" marL="0">
              <a:buNone/>
            </a:pPr>
            <a:r>
              <a:rPr lang="en-US" sz="1400" dirty="0">
                <a:solidFill>
                  <a:schemeClr val="tx1"/>
                </a:solidFill>
              </a:rPr>
              <a:t>lo que espera el paciente al confirmar (medido contra Supabase)</a:t>
            </a:r>
            <a:endParaRPr lang="en-US" sz="1400" dirty="0"/>
          </a:p>
        </p:txBody>
      </p:sp>
      <p:sp>
        <p:nvSpPr>
          <p:cNvPr id="24" name="Suscriptores número"/>
          <p:cNvSpPr txBox="1"/>
          <p:nvPr/>
        </p:nvSpPr>
        <p:spPr>
          <a:xfrm>
            <a:off x="4343400" y="4572000"/>
            <a:ext cx="3474720" cy="86868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2</a:t>
            </a:r>
            <a:endParaRPr lang="en-US" sz="4400" dirty="0"/>
          </a:p>
        </p:txBody>
      </p:sp>
      <p:sp>
        <p:nvSpPr>
          <p:cNvPr id="25" name="Suscriptores texto"/>
          <p:cNvSpPr txBox="1"/>
          <p:nvPr/>
        </p:nvSpPr>
        <p:spPr>
          <a:xfrm>
            <a:off x="4343400" y="5440680"/>
            <a:ext cx="3474720" cy="640080"/>
          </a:xfrm>
          <a:prstGeom prst="rect">
            <a:avLst/>
          </a:prstGeom>
          <a:noFill/>
          <a:ln/>
        </p:spPr>
        <p:txBody>
          <a:bodyPr wrap="square" lIns="0" tIns="0" rIns="0" bIns="0" rtlCol="0" anchor="t"/>
          <a:lstStyle/>
          <a:p>
            <a:pPr indent="0" marL="0">
              <a:buNone/>
            </a:pPr>
            <a:r>
              <a:rPr lang="en-US" sz="1400" dirty="0">
                <a:solidFill>
                  <a:schemeClr val="tx1"/>
                </a:solidFill>
              </a:rPr>
              <a:t>suscriptores durables que procesan el mismo evento en paralelo</a:t>
            </a:r>
            <a:endParaRPr lang="en-US" sz="1400" dirty="0"/>
          </a:p>
        </p:txBody>
      </p:sp>
      <p:sp>
        <p:nvSpPr>
          <p:cNvPr id="26" name="Desacople número"/>
          <p:cNvSpPr txBox="1"/>
          <p:nvPr/>
        </p:nvSpPr>
        <p:spPr>
          <a:xfrm>
            <a:off x="8138160" y="4572000"/>
            <a:ext cx="3474720" cy="86868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0</a:t>
            </a:r>
            <a:endParaRPr lang="en-US" sz="4400" dirty="0"/>
          </a:p>
        </p:txBody>
      </p:sp>
      <p:sp>
        <p:nvSpPr>
          <p:cNvPr id="27" name="Desacople texto"/>
          <p:cNvSpPr txBox="1"/>
          <p:nvPr/>
        </p:nvSpPr>
        <p:spPr>
          <a:xfrm>
            <a:off x="8138160" y="5440680"/>
            <a:ext cx="3474720" cy="640080"/>
          </a:xfrm>
          <a:prstGeom prst="rect">
            <a:avLst/>
          </a:prstGeom>
          <a:noFill/>
          <a:ln/>
        </p:spPr>
        <p:txBody>
          <a:bodyPr wrap="square" lIns="0" tIns="0" rIns="0" bIns="0" rtlCol="0" anchor="t"/>
          <a:lstStyle/>
          <a:p>
            <a:pPr indent="0" marL="0">
              <a:buNone/>
            </a:pPr>
            <a:r>
              <a:rPr lang="en-US" sz="1400" dirty="0">
                <a:solidFill>
                  <a:schemeClr val="tx1"/>
                </a:solidFill>
              </a:rPr>
              <a:t>veces que el servicio de turnos conoce a sus suscriptores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Demo: el paciente reserva y confirma</a:t>
            </a:r>
            <a:endParaRPr lang="en-US" sz="3400" dirty="0"/>
          </a:p>
        </p:txBody>
      </p:sp>
      <p:sp>
        <p:nvSpPr>
          <p:cNvPr id="3" name="Paso 1"/>
          <p:cNvSpPr/>
          <p:nvPr/>
        </p:nvSpPr>
        <p:spPr>
          <a:xfrm>
            <a:off x="548640" y="1508760"/>
            <a:ext cx="640080" cy="640080"/>
          </a:xfrm>
          <a:prstGeom prst="ellipse">
            <a:avLst/>
          </a:prstGeom>
          <a:solidFill>
            <a:srgbClr val="2F5FE0"/>
          </a:solidFill>
          <a:ln w="12700">
            <a:solidFill>
              <a:srgbClr val="2F5FE0"/>
            </a:solidFill>
            <a:prstDash val="solid"/>
          </a:ln>
        </p:spPr>
      </p:sp>
      <p:sp>
        <p:nvSpPr>
          <p:cNvPr id="4" name="Número paso 1"/>
          <p:cNvSpPr txBox="1"/>
          <p:nvPr/>
        </p:nvSpPr>
        <p:spPr>
          <a:xfrm>
            <a:off x="548640" y="15087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ítulo paso 1"/>
          <p:cNvSpPr txBox="1"/>
          <p:nvPr/>
        </p:nvSpPr>
        <p:spPr>
          <a:xfrm>
            <a:off x="1417320" y="1463040"/>
            <a:ext cx="3840480" cy="411480"/>
          </a:xfrm>
          <a:prstGeom prst="rect">
            <a:avLst/>
          </a:prstGeom>
          <a:noFill/>
          <a:ln/>
        </p:spPr>
        <p:txBody>
          <a:bodyPr wrap="square" lIns="0" tIns="0" rIns="0" bIns="0" rtlCol="0" anchor="ctr"/>
          <a:lstStyle/>
          <a:p>
            <a:pPr indent="0" marL="0">
              <a:buNone/>
            </a:pPr>
            <a:r>
              <a:rPr lang="en-US" sz="1800" b="1" dirty="0">
                <a:solidFill>
                  <a:schemeClr val="tx2"/>
                </a:solidFill>
              </a:rPr>
              <a:t>Elige profesional y horario</a:t>
            </a:r>
            <a:endParaRPr lang="en-US" sz="1800" dirty="0"/>
          </a:p>
        </p:txBody>
      </p:sp>
      <p:sp>
        <p:nvSpPr>
          <p:cNvPr id="6" name="Texto paso 1"/>
          <p:cNvSpPr txBox="1"/>
          <p:nvPr/>
        </p:nvSpPr>
        <p:spPr>
          <a:xfrm>
            <a:off x="1417320" y="1892808"/>
            <a:ext cx="3840480" cy="685800"/>
          </a:xfrm>
          <a:prstGeom prst="rect">
            <a:avLst/>
          </a:prstGeom>
          <a:noFill/>
          <a:ln/>
        </p:spPr>
        <p:txBody>
          <a:bodyPr wrap="square" lIns="0" tIns="0" rIns="0" bIns="0" rtlCol="0" anchor="t"/>
          <a:lstStyle/>
          <a:p>
            <a:pPr indent="0" marL="0">
              <a:buNone/>
            </a:pPr>
            <a:r>
              <a:rPr lang="en-US" sz="1400" dirty="0">
                <a:solidFill>
                  <a:schemeClr val="tx1"/>
                </a:solidFill>
              </a:rPr>
              <a:t>La agenda muestra los turnos disponibles de la Dra. López</a:t>
            </a:r>
            <a:endParaRPr lang="en-US" sz="1400" dirty="0"/>
          </a:p>
        </p:txBody>
      </p:sp>
      <p:sp>
        <p:nvSpPr>
          <p:cNvPr id="7" name="Paso 2"/>
          <p:cNvSpPr/>
          <p:nvPr/>
        </p:nvSpPr>
        <p:spPr>
          <a:xfrm>
            <a:off x="548640" y="2971800"/>
            <a:ext cx="640080" cy="640080"/>
          </a:xfrm>
          <a:prstGeom prst="ellipse">
            <a:avLst/>
          </a:prstGeom>
          <a:solidFill>
            <a:srgbClr val="D9861C"/>
          </a:solidFill>
          <a:ln w="12700">
            <a:solidFill>
              <a:srgbClr val="D9861C"/>
            </a:solidFill>
            <a:prstDash val="solid"/>
          </a:ln>
        </p:spPr>
      </p:sp>
      <p:sp>
        <p:nvSpPr>
          <p:cNvPr id="8" name="Número paso 2"/>
          <p:cNvSpPr txBox="1"/>
          <p:nvPr/>
        </p:nvSpPr>
        <p:spPr>
          <a:xfrm>
            <a:off x="548640" y="29718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ítulo paso 2"/>
          <p:cNvSpPr txBox="1"/>
          <p:nvPr/>
        </p:nvSpPr>
        <p:spPr>
          <a:xfrm>
            <a:off x="1417320" y="2926080"/>
            <a:ext cx="3840480" cy="411480"/>
          </a:xfrm>
          <a:prstGeom prst="rect">
            <a:avLst/>
          </a:prstGeom>
          <a:noFill/>
          <a:ln/>
        </p:spPr>
        <p:txBody>
          <a:bodyPr wrap="square" lIns="0" tIns="0" rIns="0" bIns="0" rtlCol="0" anchor="ctr"/>
          <a:lstStyle/>
          <a:p>
            <a:pPr indent="0" marL="0">
              <a:buNone/>
            </a:pPr>
            <a:r>
              <a:rPr lang="en-US" sz="1800" b="1" dirty="0">
                <a:solidFill>
                  <a:schemeClr val="tx2"/>
                </a:solidFill>
              </a:rPr>
              <a:t>Reserva con hold de 5 minutos</a:t>
            </a:r>
            <a:endParaRPr lang="en-US" sz="1800" dirty="0"/>
          </a:p>
        </p:txBody>
      </p:sp>
      <p:sp>
        <p:nvSpPr>
          <p:cNvPr id="10" name="Texto paso 2"/>
          <p:cNvSpPr txBox="1"/>
          <p:nvPr/>
        </p:nvSpPr>
        <p:spPr>
          <a:xfrm>
            <a:off x="1417320" y="3355848"/>
            <a:ext cx="3840480" cy="685800"/>
          </a:xfrm>
          <a:prstGeom prst="rect">
            <a:avLst/>
          </a:prstGeom>
          <a:noFill/>
          <a:ln/>
        </p:spPr>
        <p:txBody>
          <a:bodyPr wrap="square" lIns="0" tIns="0" rIns="0" bIns="0" rtlCol="0" anchor="t"/>
          <a:lstStyle/>
          <a:p>
            <a:pPr indent="0" marL="0">
              <a:buNone/>
            </a:pPr>
            <a:r>
              <a:rPr lang="en-US" sz="1400" dirty="0">
                <a:solidFill>
                  <a:schemeClr val="tx1"/>
                </a:solidFill>
              </a:rPr>
              <a:t>Nadie más puede tomarlo; si no confirma, el contenedor lo libera solo</a:t>
            </a:r>
            <a:endParaRPr lang="en-US" sz="1400" dirty="0"/>
          </a:p>
        </p:txBody>
      </p:sp>
      <p:sp>
        <p:nvSpPr>
          <p:cNvPr id="11" name="Paso 3"/>
          <p:cNvSpPr/>
          <p:nvPr/>
        </p:nvSpPr>
        <p:spPr>
          <a:xfrm>
            <a:off x="548640" y="4434840"/>
            <a:ext cx="640080" cy="640080"/>
          </a:xfrm>
          <a:prstGeom prst="ellipse">
            <a:avLst/>
          </a:prstGeom>
          <a:solidFill>
            <a:srgbClr val="2F5FE0"/>
          </a:solidFill>
          <a:ln w="12700">
            <a:solidFill>
              <a:srgbClr val="2F5FE0"/>
            </a:solidFill>
            <a:prstDash val="solid"/>
          </a:ln>
        </p:spPr>
      </p:sp>
      <p:sp>
        <p:nvSpPr>
          <p:cNvPr id="12" name="Número paso 3"/>
          <p:cNvSpPr txBox="1"/>
          <p:nvPr/>
        </p:nvSpPr>
        <p:spPr>
          <a:xfrm>
            <a:off x="548640" y="44348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ítulo paso 3"/>
          <p:cNvSpPr txBox="1"/>
          <p:nvPr/>
        </p:nvSpPr>
        <p:spPr>
          <a:xfrm>
            <a:off x="1417320" y="4389120"/>
            <a:ext cx="3840480" cy="411480"/>
          </a:xfrm>
          <a:prstGeom prst="rect">
            <a:avLst/>
          </a:prstGeom>
          <a:noFill/>
          <a:ln/>
        </p:spPr>
        <p:txBody>
          <a:bodyPr wrap="square" lIns="0" tIns="0" rIns="0" bIns="0" rtlCol="0" anchor="ctr"/>
          <a:lstStyle/>
          <a:p>
            <a:pPr indent="0" marL="0">
              <a:buNone/>
            </a:pPr>
            <a:r>
              <a:rPr lang="en-US" sz="1800" b="1" dirty="0">
                <a:solidFill>
                  <a:schemeClr val="tx2"/>
                </a:solidFill>
              </a:rPr>
              <a:t>Confirma</a:t>
            </a:r>
            <a:endParaRPr lang="en-US" sz="1800" dirty="0"/>
          </a:p>
        </p:txBody>
      </p:sp>
      <p:sp>
        <p:nvSpPr>
          <p:cNvPr id="14" name="Texto paso 3"/>
          <p:cNvSpPr txBox="1"/>
          <p:nvPr/>
        </p:nvSpPr>
        <p:spPr>
          <a:xfrm>
            <a:off x="1417320" y="4818888"/>
            <a:ext cx="3840480" cy="685800"/>
          </a:xfrm>
          <a:prstGeom prst="rect">
            <a:avLst/>
          </a:prstGeom>
          <a:noFill/>
          <a:ln/>
        </p:spPr>
        <p:txBody>
          <a:bodyPr wrap="square" lIns="0" tIns="0" rIns="0" bIns="0" rtlCol="0" anchor="t"/>
          <a:lstStyle/>
          <a:p>
            <a:pPr indent="0" marL="0">
              <a:buNone/>
            </a:pPr>
            <a:r>
              <a:rPr lang="en-US" sz="1400" dirty="0">
                <a:solidFill>
                  <a:schemeClr val="tx1"/>
                </a:solidFill>
              </a:rPr>
              <a:t>Responde en ~1,5 s y publica el evento en el tópico</a:t>
            </a:r>
            <a:endParaRPr lang="en-US" sz="1400" dirty="0"/>
          </a:p>
        </p:txBody>
      </p:sp>
      <p:pic>
        <p:nvPicPr>
          <p:cNvPr id="15" name="Captura agenda con hold" descr="/private/tmp/claude-501/-Users-mbonacr-Downloads-MediConecta/1c01af83-fcc2-46cb-9a39-1091feb24b15/scratchpad/shots/04-paciente-hold.png">    </p:cNvPr>
          <p:cNvPicPr>
            <a:picLocks noChangeAspect="1"/>
          </p:cNvPicPr>
          <p:nvPr/>
        </p:nvPicPr>
        <p:blipFill>
          <a:blip r:embed="rId1"/>
          <a:stretch>
            <a:fillRect/>
          </a:stretch>
        </p:blipFill>
        <p:spPr>
          <a:xfrm>
            <a:off x="5532120" y="1280160"/>
            <a:ext cx="6080760" cy="4985689"/>
          </a:xfrm>
          <a:prstGeom prst="rect">
            <a:avLst/>
          </a:prstGeom>
          <a:effectLst>
            <a:outerShdw sx="100000" sy="100000" kx="0" ky="0" algn="bl" rotWithShape="0" blurRad="101600" dist="25400" dir="5400000">
              <a:srgbClr val="1A2238">
                <a:alpha val="12000"/>
              </a:srgbClr>
            </a:outerShdw>
          </a:effectLst>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Demo: al profesional le llega el aviso solo</a:t>
            </a:r>
            <a:endParaRPr lang="en-US" sz="3400" dirty="0"/>
          </a:p>
        </p:txBody>
      </p:sp>
      <p:pic>
        <p:nvPicPr>
          <p:cNvPr id="3" name="Captura bandeja del profesional" descr="/private/tmp/claude-501/-Users-mbonacr-Downloads-MediConecta/1c01af83-fcc2-46cb-9a39-1091feb24b15/scratchpad/shots/06-profesional-notificaciones.png">    </p:cNvPr>
          <p:cNvPicPr>
            <a:picLocks noChangeAspect="1"/>
          </p:cNvPicPr>
          <p:nvPr/>
        </p:nvPicPr>
        <p:blipFill>
          <a:blip r:embed="rId1"/>
          <a:stretch>
            <a:fillRect/>
          </a:stretch>
        </p:blipFill>
        <p:spPr>
          <a:xfrm>
            <a:off x="548640" y="1280160"/>
            <a:ext cx="6080760" cy="4985689"/>
          </a:xfrm>
          <a:prstGeom prst="rect">
            <a:avLst/>
          </a:prstGeom>
          <a:effectLst>
            <a:outerShdw sx="100000" sy="100000" kx="0" ky="0" algn="bl" rotWithShape="0" blurRad="101600" dist="25400" dir="5400000">
              <a:srgbClr val="1A2238">
                <a:alpha val="12000"/>
              </a:srgbClr>
            </a:outerShdw>
          </a:effectLst>
        </p:spPr>
      </p:pic>
      <p:sp>
        <p:nvSpPr>
          <p:cNvPr id="4" name="Sin recargar la página círculo"/>
          <p:cNvSpPr/>
          <p:nvPr/>
        </p:nvSpPr>
        <p:spPr>
          <a:xfrm>
            <a:off x="7086600" y="1463040"/>
            <a:ext cx="685800" cy="685800"/>
          </a:xfrm>
          <a:prstGeom prst="ellipse">
            <a:avLst/>
          </a:prstGeom>
          <a:solidFill>
            <a:schemeClr val="accent4"/>
          </a:solidFill>
          <a:ln w="12700">
            <a:solidFill>
              <a:schemeClr val="accent4"/>
            </a:solidFill>
            <a:prstDash val="solid"/>
          </a:ln>
        </p:spPr>
      </p:sp>
      <p:pic>
        <p:nvPicPr>
          <p:cNvPr id="5" name="Sin recargar la página ícono" descr="preencoded.png">    </p:cNvPr>
          <p:cNvPicPr>
            <a:picLocks noChangeAspect="1"/>
          </p:cNvPicPr>
          <p:nvPr/>
        </p:nvPicPr>
        <p:blipFill>
          <a:blip r:embed="rId2"/>
          <a:stretch>
            <a:fillRect/>
          </a:stretch>
        </p:blipFill>
        <p:spPr>
          <a:xfrm>
            <a:off x="7251192" y="1627632"/>
            <a:ext cx="356616" cy="356616"/>
          </a:xfrm>
          <a:prstGeom prst="rect">
            <a:avLst/>
          </a:prstGeom>
        </p:spPr>
      </p:pic>
      <p:sp>
        <p:nvSpPr>
          <p:cNvPr id="6" name="Título Sin recargar la página"/>
          <p:cNvSpPr txBox="1"/>
          <p:nvPr/>
        </p:nvSpPr>
        <p:spPr>
          <a:xfrm>
            <a:off x="8001000" y="1417320"/>
            <a:ext cx="3657600" cy="411480"/>
          </a:xfrm>
          <a:prstGeom prst="rect">
            <a:avLst/>
          </a:prstGeom>
          <a:noFill/>
          <a:ln/>
        </p:spPr>
        <p:txBody>
          <a:bodyPr wrap="square" lIns="0" tIns="0" rIns="0" bIns="0" rtlCol="0" anchor="ctr"/>
          <a:lstStyle/>
          <a:p>
            <a:pPr indent="0" marL="0">
              <a:buNone/>
            </a:pPr>
            <a:r>
              <a:rPr lang="en-US" sz="1800" b="1" dirty="0">
                <a:solidFill>
                  <a:schemeClr val="tx2"/>
                </a:solidFill>
              </a:rPr>
              <a:t>Sin recargar la página</a:t>
            </a:r>
            <a:endParaRPr lang="en-US" sz="1800" dirty="0"/>
          </a:p>
        </p:txBody>
      </p:sp>
      <p:sp>
        <p:nvSpPr>
          <p:cNvPr id="7" name="Texto Sin recargar la página"/>
          <p:cNvSpPr txBox="1"/>
          <p:nvPr/>
        </p:nvSpPr>
        <p:spPr>
          <a:xfrm>
            <a:off x="8001000" y="1847088"/>
            <a:ext cx="3657600" cy="777240"/>
          </a:xfrm>
          <a:prstGeom prst="rect">
            <a:avLst/>
          </a:prstGeom>
          <a:noFill/>
          <a:ln/>
        </p:spPr>
        <p:txBody>
          <a:bodyPr wrap="square" lIns="0" tIns="0" rIns="0" bIns="0" rtlCol="0" anchor="t"/>
          <a:lstStyle/>
          <a:p>
            <a:pPr indent="0" marL="0">
              <a:buNone/>
            </a:pPr>
            <a:r>
              <a:rPr lang="en-US" sz="1400" dirty="0">
                <a:solidFill>
                  <a:schemeClr val="tx1"/>
                </a:solidFill>
              </a:rPr>
              <a:t>La bandeja se refresca cada 5 s y el menú muestra cuántas hay sin leer</a:t>
            </a:r>
            <a:endParaRPr lang="en-US" sz="1400" dirty="0"/>
          </a:p>
        </p:txBody>
      </p:sp>
      <p:sp>
        <p:nvSpPr>
          <p:cNvPr id="8" name="Dos canales, un mismo evento círculo"/>
          <p:cNvSpPr/>
          <p:nvPr/>
        </p:nvSpPr>
        <p:spPr>
          <a:xfrm>
            <a:off x="7086600" y="2971800"/>
            <a:ext cx="685800" cy="685800"/>
          </a:xfrm>
          <a:prstGeom prst="ellipse">
            <a:avLst/>
          </a:prstGeom>
          <a:solidFill>
            <a:schemeClr val="accent3"/>
          </a:solidFill>
          <a:ln w="12700">
            <a:solidFill>
              <a:schemeClr val="accent3"/>
            </a:solidFill>
            <a:prstDash val="solid"/>
          </a:ln>
        </p:spPr>
      </p:sp>
      <p:pic>
        <p:nvPicPr>
          <p:cNvPr id="9" name="Dos canales, un mismo evento ícono" descr="preencoded.png">    </p:cNvPr>
          <p:cNvPicPr>
            <a:picLocks noChangeAspect="1"/>
          </p:cNvPicPr>
          <p:nvPr/>
        </p:nvPicPr>
        <p:blipFill>
          <a:blip r:embed="rId3"/>
          <a:stretch>
            <a:fillRect/>
          </a:stretch>
        </p:blipFill>
        <p:spPr>
          <a:xfrm>
            <a:off x="7251192" y="3136392"/>
            <a:ext cx="356616" cy="356616"/>
          </a:xfrm>
          <a:prstGeom prst="rect">
            <a:avLst/>
          </a:prstGeom>
        </p:spPr>
      </p:pic>
      <p:sp>
        <p:nvSpPr>
          <p:cNvPr id="10" name="Título Dos canales, un mismo evento"/>
          <p:cNvSpPr txBox="1"/>
          <p:nvPr/>
        </p:nvSpPr>
        <p:spPr>
          <a:xfrm>
            <a:off x="8001000" y="2926080"/>
            <a:ext cx="3657600" cy="411480"/>
          </a:xfrm>
          <a:prstGeom prst="rect">
            <a:avLst/>
          </a:prstGeom>
          <a:noFill/>
          <a:ln/>
        </p:spPr>
        <p:txBody>
          <a:bodyPr wrap="square" lIns="0" tIns="0" rIns="0" bIns="0" rtlCol="0" anchor="ctr"/>
          <a:lstStyle/>
          <a:p>
            <a:pPr indent="0" marL="0">
              <a:buNone/>
            </a:pPr>
            <a:r>
              <a:rPr lang="en-US" sz="1800" b="1" dirty="0">
                <a:solidFill>
                  <a:schemeClr val="tx2"/>
                </a:solidFill>
              </a:rPr>
              <a:t>Dos canales, un mismo evento</a:t>
            </a:r>
            <a:endParaRPr lang="en-US" sz="1800" dirty="0"/>
          </a:p>
        </p:txBody>
      </p:sp>
      <p:sp>
        <p:nvSpPr>
          <p:cNvPr id="11" name="Texto Dos canales, un mismo evento"/>
          <p:cNvSpPr txBox="1"/>
          <p:nvPr/>
        </p:nvSpPr>
        <p:spPr>
          <a:xfrm>
            <a:off x="8001000" y="3355848"/>
            <a:ext cx="3657600" cy="777240"/>
          </a:xfrm>
          <a:prstGeom prst="rect">
            <a:avLst/>
          </a:prstGeom>
          <a:noFill/>
          <a:ln/>
        </p:spPr>
        <p:txBody>
          <a:bodyPr wrap="square" lIns="0" tIns="0" rIns="0" bIns="0" rtlCol="0" anchor="t"/>
          <a:lstStyle/>
          <a:p>
            <a:pPr indent="0" marL="0">
              <a:buNone/>
            </a:pPr>
            <a:r>
              <a:rPr lang="en-US" sz="1400" dirty="0">
                <a:solidFill>
                  <a:schemeClr val="tx1"/>
                </a:solidFill>
              </a:rPr>
              <a:t>Email (simulado) al paciente y aviso en la app al profesional</a:t>
            </a:r>
            <a:endParaRPr lang="en-US" sz="1400" dirty="0"/>
          </a:p>
        </p:txBody>
      </p:sp>
      <p:sp>
        <p:nvSpPr>
          <p:cNvPr id="12" name="Y queda auditado círculo"/>
          <p:cNvSpPr/>
          <p:nvPr/>
        </p:nvSpPr>
        <p:spPr>
          <a:xfrm>
            <a:off x="7086600" y="4480560"/>
            <a:ext cx="685800" cy="685800"/>
          </a:xfrm>
          <a:prstGeom prst="ellipse">
            <a:avLst/>
          </a:prstGeom>
          <a:solidFill>
            <a:schemeClr val="accent2"/>
          </a:solidFill>
          <a:ln w="12700">
            <a:solidFill>
              <a:schemeClr val="accent2"/>
            </a:solidFill>
            <a:prstDash val="solid"/>
          </a:ln>
        </p:spPr>
      </p:sp>
      <p:pic>
        <p:nvPicPr>
          <p:cNvPr id="13" name="Y queda auditado ícono" descr="preencoded.png">    </p:cNvPr>
          <p:cNvPicPr>
            <a:picLocks noChangeAspect="1"/>
          </p:cNvPicPr>
          <p:nvPr/>
        </p:nvPicPr>
        <p:blipFill>
          <a:blip r:embed="rId4"/>
          <a:stretch>
            <a:fillRect/>
          </a:stretch>
        </p:blipFill>
        <p:spPr>
          <a:xfrm>
            <a:off x="7251192" y="4645152"/>
            <a:ext cx="356616" cy="356616"/>
          </a:xfrm>
          <a:prstGeom prst="rect">
            <a:avLst/>
          </a:prstGeom>
        </p:spPr>
      </p:pic>
      <p:sp>
        <p:nvSpPr>
          <p:cNvPr id="14" name="Título Y queda auditado"/>
          <p:cNvSpPr txBox="1"/>
          <p:nvPr/>
        </p:nvSpPr>
        <p:spPr>
          <a:xfrm>
            <a:off x="8001000" y="4434840"/>
            <a:ext cx="3657600" cy="411480"/>
          </a:xfrm>
          <a:prstGeom prst="rect">
            <a:avLst/>
          </a:prstGeom>
          <a:noFill/>
          <a:ln/>
        </p:spPr>
        <p:txBody>
          <a:bodyPr wrap="square" lIns="0" tIns="0" rIns="0" bIns="0" rtlCol="0" anchor="ctr"/>
          <a:lstStyle/>
          <a:p>
            <a:pPr indent="0" marL="0">
              <a:buNone/>
            </a:pPr>
            <a:r>
              <a:rPr lang="en-US" sz="1800" b="1" dirty="0">
                <a:solidFill>
                  <a:schemeClr val="tx2"/>
                </a:solidFill>
              </a:rPr>
              <a:t>Y queda auditado</a:t>
            </a:r>
            <a:endParaRPr lang="en-US" sz="1800" dirty="0"/>
          </a:p>
        </p:txBody>
      </p:sp>
      <p:sp>
        <p:nvSpPr>
          <p:cNvPr id="15" name="Texto Y queda auditado"/>
          <p:cNvSpPr txBox="1"/>
          <p:nvPr/>
        </p:nvSpPr>
        <p:spPr>
          <a:xfrm>
            <a:off x="8001000" y="4864608"/>
            <a:ext cx="3657600" cy="777240"/>
          </a:xfrm>
          <a:prstGeom prst="rect">
            <a:avLst/>
          </a:prstGeom>
          <a:noFill/>
          <a:ln/>
        </p:spPr>
        <p:txBody>
          <a:bodyPr wrap="square" lIns="0" tIns="0" rIns="0" bIns="0" rtlCol="0" anchor="t"/>
          <a:lstStyle/>
          <a:p>
            <a:pPr indent="0" marL="0">
              <a:buNone/>
            </a:pPr>
            <a:r>
              <a:rPr lang="en-US" sz="1400" dirty="0">
                <a:solidFill>
                  <a:schemeClr val="tx1"/>
                </a:solidFill>
              </a:rPr>
              <a:t>Otro suscriptor guarda el cambio en registro_auditoria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Demo: el Monitor de eventos hace visible el broker</a:t>
            </a:r>
            <a:endParaRPr lang="en-US" sz="3400" dirty="0"/>
          </a:p>
        </p:txBody>
      </p:sp>
      <p:pic>
        <p:nvPicPr>
          <p:cNvPr id="3" name="Captura monitor con auditoría pendiente" descr="/private/tmp/claude-501/-Users-mbonacr-Downloads-MediConecta/1c01af83-fcc2-46cb-9a39-1091feb24b15/scratchpad/shots/09-monitor-pendiente.png">    </p:cNvPr>
          <p:cNvPicPr>
            <a:picLocks noChangeAspect="1"/>
          </p:cNvPicPr>
          <p:nvPr/>
        </p:nvPicPr>
        <p:blipFill>
          <a:blip r:embed="rId1"/>
          <a:stretch>
            <a:fillRect/>
          </a:stretch>
        </p:blipFill>
        <p:spPr>
          <a:xfrm>
            <a:off x="548640" y="1325880"/>
            <a:ext cx="7040880" cy="4638940"/>
          </a:xfrm>
          <a:prstGeom prst="rect">
            <a:avLst/>
          </a:prstGeom>
          <a:effectLst>
            <a:outerShdw sx="100000" sy="100000" kx="0" ky="0" algn="bl" rotWithShape="0" blurRad="101600" dist="25400" dir="5400000">
              <a:srgbClr val="1A2238">
                <a:alpha val="12000"/>
              </a:srgbClr>
            </a:outerShdw>
          </a:effectLst>
        </p:spPr>
      </p:pic>
      <p:sp>
        <p:nvSpPr>
          <p:cNvPr id="4" name="Estado 0"/>
          <p:cNvSpPr txBox="1"/>
          <p:nvPr/>
        </p:nvSpPr>
        <p:spPr>
          <a:xfrm>
            <a:off x="8001000" y="1417320"/>
            <a:ext cx="3657600" cy="50292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 330 ms</a:t>
            </a:r>
            <a:endParaRPr lang="en-US" sz="2600" dirty="0"/>
          </a:p>
        </p:txBody>
      </p:sp>
      <p:sp>
        <p:nvSpPr>
          <p:cNvPr id="5" name="Texto estado 0"/>
          <p:cNvSpPr txBox="1"/>
          <p:nvPr/>
        </p:nvSpPr>
        <p:spPr>
          <a:xfrm>
            <a:off x="8001000" y="1965960"/>
            <a:ext cx="3657600" cy="868680"/>
          </a:xfrm>
          <a:prstGeom prst="rect">
            <a:avLst/>
          </a:prstGeom>
          <a:noFill/>
          <a:ln/>
        </p:spPr>
        <p:txBody>
          <a:bodyPr wrap="square" lIns="0" tIns="0" rIns="0" bIns="0" rtlCol="0" anchor="t"/>
          <a:lstStyle/>
          <a:p>
            <a:pPr indent="0" marL="0">
              <a:buNone/>
            </a:pPr>
            <a:r>
              <a:rPr lang="en-US" sz="1400" dirty="0">
                <a:solidFill>
                  <a:schemeClr val="tx1"/>
                </a:solidFill>
              </a:rPr>
              <a:t>Turno confirmado: los dos suscriptores lo procesaron en un tercio de segundo</a:t>
            </a:r>
            <a:endParaRPr lang="en-US" sz="1400" dirty="0"/>
          </a:p>
        </p:txBody>
      </p:sp>
      <p:sp>
        <p:nvSpPr>
          <p:cNvPr id="6" name="Estado 1"/>
          <p:cNvSpPr txBox="1"/>
          <p:nvPr/>
        </p:nvSpPr>
        <p:spPr>
          <a:xfrm>
            <a:off x="8001000" y="2971800"/>
            <a:ext cx="3657600" cy="50292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Pendiente</a:t>
            </a:r>
            <a:endParaRPr lang="en-US" sz="2600" dirty="0"/>
          </a:p>
        </p:txBody>
      </p:sp>
      <p:sp>
        <p:nvSpPr>
          <p:cNvPr id="7" name="Texto estado 1"/>
          <p:cNvSpPr txBox="1"/>
          <p:nvPr/>
        </p:nvSpPr>
        <p:spPr>
          <a:xfrm>
            <a:off x="8001000" y="3520440"/>
            <a:ext cx="3657600" cy="868680"/>
          </a:xfrm>
          <a:prstGeom prst="rect">
            <a:avLst/>
          </a:prstGeom>
          <a:noFill/>
          <a:ln/>
        </p:spPr>
        <p:txBody>
          <a:bodyPr wrap="square" lIns="0" tIns="0" rIns="0" bIns="0" rtlCol="0" anchor="t"/>
          <a:lstStyle/>
          <a:p>
            <a:pPr indent="0" marL="0">
              <a:buNone/>
            </a:pPr>
            <a:r>
              <a:rPr lang="en-US" sz="1400" dirty="0">
                <a:solidFill>
                  <a:schemeClr val="tx1"/>
                </a:solidFill>
              </a:rPr>
              <a:t>Frenamos Auditoría desde la consola y cancelamos: el broker retiene el mensaje</a:t>
            </a:r>
            <a:endParaRPr lang="en-US" sz="1400" dirty="0"/>
          </a:p>
        </p:txBody>
      </p:sp>
      <p:sp>
        <p:nvSpPr>
          <p:cNvPr id="8" name="Estado 2"/>
          <p:cNvSpPr txBox="1"/>
          <p:nvPr/>
        </p:nvSpPr>
        <p:spPr>
          <a:xfrm>
            <a:off x="8001000" y="4526280"/>
            <a:ext cx="3657600" cy="50292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 5118 ms</a:t>
            </a:r>
            <a:endParaRPr lang="en-US" sz="2600" dirty="0"/>
          </a:p>
        </p:txBody>
      </p:sp>
      <p:sp>
        <p:nvSpPr>
          <p:cNvPr id="9" name="Texto estado 2"/>
          <p:cNvSpPr txBox="1"/>
          <p:nvPr/>
        </p:nvSpPr>
        <p:spPr>
          <a:xfrm>
            <a:off x="8001000" y="5074920"/>
            <a:ext cx="3657600" cy="868680"/>
          </a:xfrm>
          <a:prstGeom prst="rect">
            <a:avLst/>
          </a:prstGeom>
          <a:noFill/>
          <a:ln/>
        </p:spPr>
        <p:txBody>
          <a:bodyPr wrap="square" lIns="0" tIns="0" rIns="0" bIns="0" rtlCol="0" anchor="t"/>
          <a:lstStyle/>
          <a:p>
            <a:pPr indent="0" marL="0">
              <a:buNone/>
            </a:pPr>
            <a:r>
              <a:rPr lang="en-US" sz="1400" dirty="0">
                <a:solidFill>
                  <a:schemeClr val="tx1"/>
                </a:solidFill>
              </a:rPr>
              <a:t>La reactivamos y el monitor cambia solo: esos 5 s son lo que el broker lo guardó</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¿Por qué asincrónico acá y no en todo?</a:t>
            </a:r>
            <a:endParaRPr lang="en-US" sz="3400" dirty="0"/>
          </a:p>
        </p:txBody>
      </p:sp>
      <p:sp>
        <p:nvSpPr>
          <p:cNvPr id="3" name="Columna Sincrónico"/>
          <p:cNvSpPr/>
          <p:nvPr/>
        </p:nvSpPr>
        <p:spPr>
          <a:xfrm>
            <a:off x="548640" y="1463040"/>
            <a:ext cx="5349240" cy="4023360"/>
          </a:xfrm>
          <a:prstGeom prst="roundRect">
            <a:avLst>
              <a:gd name="adj" fmla="val 2727"/>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4" name="Sincrónico círculo"/>
          <p:cNvSpPr/>
          <p:nvPr/>
        </p:nvSpPr>
        <p:spPr>
          <a:xfrm>
            <a:off x="914400" y="1783080"/>
            <a:ext cx="731520" cy="731520"/>
          </a:xfrm>
          <a:prstGeom prst="ellipse">
            <a:avLst/>
          </a:prstGeom>
          <a:solidFill>
            <a:schemeClr val="accent1"/>
          </a:solidFill>
          <a:ln w="12700">
            <a:solidFill>
              <a:schemeClr val="accent1"/>
            </a:solidFill>
            <a:prstDash val="solid"/>
          </a:ln>
        </p:spPr>
      </p:sp>
      <p:pic>
        <p:nvPicPr>
          <p:cNvPr id="5" name="Sincrónico ícono" descr="preencoded.png">    </p:cNvPr>
          <p:cNvPicPr>
            <a:picLocks noChangeAspect="1"/>
          </p:cNvPicPr>
          <p:nvPr/>
        </p:nvPicPr>
        <p:blipFill>
          <a:blip r:embed="rId1"/>
          <a:stretch>
            <a:fillRect/>
          </a:stretch>
        </p:blipFill>
        <p:spPr>
          <a:xfrm>
            <a:off x="1089965" y="1958645"/>
            <a:ext cx="380390" cy="380390"/>
          </a:xfrm>
          <a:prstGeom prst="rect">
            <a:avLst/>
          </a:prstGeom>
        </p:spPr>
      </p:pic>
      <p:sp>
        <p:nvSpPr>
          <p:cNvPr id="6" name="Título Sincrónico"/>
          <p:cNvSpPr txBox="1"/>
          <p:nvPr/>
        </p:nvSpPr>
        <p:spPr>
          <a:xfrm>
            <a:off x="1828800" y="1783080"/>
            <a:ext cx="384048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Sincrónico</a:t>
            </a:r>
            <a:endParaRPr lang="en-US" sz="2400" dirty="0"/>
          </a:p>
        </p:txBody>
      </p:sp>
      <p:sp>
        <p:nvSpPr>
          <p:cNvPr id="7" name="Frase Sincrónico"/>
          <p:cNvSpPr txBox="1"/>
          <p:nvPr/>
        </p:nvSpPr>
        <p:spPr>
          <a:xfrm>
            <a:off x="1828800" y="2240280"/>
            <a:ext cx="3840480" cy="365760"/>
          </a:xfrm>
          <a:prstGeom prst="rect">
            <a:avLst/>
          </a:prstGeom>
          <a:noFill/>
          <a:ln/>
        </p:spPr>
        <p:txBody>
          <a:bodyPr wrap="square" lIns="0" tIns="0" rIns="0" bIns="0" rtlCol="0" anchor="ctr"/>
          <a:lstStyle/>
          <a:p>
            <a:pPr indent="0" marL="0">
              <a:buNone/>
            </a:pPr>
            <a:r>
              <a:rPr lang="en-US" sz="1400" i="1" dirty="0">
                <a:solidFill>
                  <a:schemeClr val="accent5"/>
                </a:solidFill>
              </a:rPr>
              <a:t>Como una llamada: pregunto y espero</a:t>
            </a:r>
            <a:endParaRPr lang="en-US" sz="1400" dirty="0"/>
          </a:p>
        </p:txBody>
      </p:sp>
      <p:sp>
        <p:nvSpPr>
          <p:cNvPr id="8" name="Lista Sincrónico"/>
          <p:cNvSpPr txBox="1"/>
          <p:nvPr/>
        </p:nvSpPr>
        <p:spPr>
          <a:xfrm>
            <a:off x="914400" y="2880360"/>
            <a:ext cx="461772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Cobertura de la obra social, por SOAP (sistema legado)</a:t>
            </a:r>
            <a:endParaRPr lang="en-US" sz="1600" dirty="0"/>
          </a:p>
          <a:p>
            <a:pPr marL="342900" indent="-342900">
              <a:spcAft>
                <a:spcPts val="1000"/>
              </a:spcAft>
              <a:buSzPct val="100000"/>
              <a:buChar char="•"/>
            </a:pPr>
            <a:r>
              <a:rPr lang="en-US" sz="1600" dirty="0">
                <a:solidFill>
                  <a:schemeClr val="tx1"/>
                </a:solidFill>
              </a:rPr>
              <a:t>Pago de turnos particulares, por REST</a:t>
            </a:r>
            <a:endParaRPr lang="en-US" sz="1600" dirty="0"/>
          </a:p>
          <a:p>
            <a:pPr marL="342900" indent="-342900">
              <a:spcAft>
                <a:spcPts val="1000"/>
              </a:spcAft>
              <a:buSzPct val="100000"/>
              <a:buChar char="•"/>
            </a:pPr>
            <a:r>
              <a:rPr lang="en-US" sz="1600" dirty="0">
                <a:solidFill>
                  <a:schemeClr val="tx1"/>
                </a:solidFill>
              </a:rPr>
              <a:t>Sala de videoconsulta, por REST</a:t>
            </a:r>
            <a:endParaRPr lang="en-US" sz="1600" dirty="0"/>
          </a:p>
          <a:p>
            <a:pPr marL="342900" indent="-342900">
              <a:spcAft>
                <a:spcPts val="1000"/>
              </a:spcAft>
              <a:buSzPct val="100000"/>
              <a:buChar char="•"/>
            </a:pPr>
            <a:r>
              <a:rPr lang="en-US" sz="1600" dirty="0">
                <a:solidFill>
                  <a:schemeClr val="tx1"/>
                </a:solidFill>
              </a:rPr>
              <a:t>Necesitan la respuesta antes de seguir</a:t>
            </a:r>
            <a:endParaRPr lang="en-US" sz="1600" dirty="0"/>
          </a:p>
        </p:txBody>
      </p:sp>
      <p:sp>
        <p:nvSpPr>
          <p:cNvPr id="9" name="Columna Asincrónico"/>
          <p:cNvSpPr/>
          <p:nvPr/>
        </p:nvSpPr>
        <p:spPr>
          <a:xfrm>
            <a:off x="6263640" y="1463040"/>
            <a:ext cx="5349240" cy="4023360"/>
          </a:xfrm>
          <a:prstGeom prst="roundRect">
            <a:avLst>
              <a:gd name="adj" fmla="val 2727"/>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10" name="Asincrónico círculo"/>
          <p:cNvSpPr/>
          <p:nvPr/>
        </p:nvSpPr>
        <p:spPr>
          <a:xfrm>
            <a:off x="6629400" y="1783080"/>
            <a:ext cx="731520" cy="731520"/>
          </a:xfrm>
          <a:prstGeom prst="ellipse">
            <a:avLst/>
          </a:prstGeom>
          <a:solidFill>
            <a:schemeClr val="accent4"/>
          </a:solidFill>
          <a:ln w="12700">
            <a:solidFill>
              <a:schemeClr val="accent4"/>
            </a:solidFill>
            <a:prstDash val="solid"/>
          </a:ln>
        </p:spPr>
      </p:sp>
      <p:pic>
        <p:nvPicPr>
          <p:cNvPr id="11" name="Asincrónico ícono" descr="preencoded.png">    </p:cNvPr>
          <p:cNvPicPr>
            <a:picLocks noChangeAspect="1"/>
          </p:cNvPicPr>
          <p:nvPr/>
        </p:nvPicPr>
        <p:blipFill>
          <a:blip r:embed="rId2"/>
          <a:stretch>
            <a:fillRect/>
          </a:stretch>
        </p:blipFill>
        <p:spPr>
          <a:xfrm>
            <a:off x="6804965" y="1958645"/>
            <a:ext cx="380390" cy="380390"/>
          </a:xfrm>
          <a:prstGeom prst="rect">
            <a:avLst/>
          </a:prstGeom>
        </p:spPr>
      </p:pic>
      <p:sp>
        <p:nvSpPr>
          <p:cNvPr id="12" name="Título Asincrónico"/>
          <p:cNvSpPr txBox="1"/>
          <p:nvPr/>
        </p:nvSpPr>
        <p:spPr>
          <a:xfrm>
            <a:off x="7543800" y="1783080"/>
            <a:ext cx="384048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Asincrónico</a:t>
            </a:r>
            <a:endParaRPr lang="en-US" sz="2400" dirty="0"/>
          </a:p>
        </p:txBody>
      </p:sp>
      <p:sp>
        <p:nvSpPr>
          <p:cNvPr id="13" name="Frase Asincrónico"/>
          <p:cNvSpPr txBox="1"/>
          <p:nvPr/>
        </p:nvSpPr>
        <p:spPr>
          <a:xfrm>
            <a:off x="7543800" y="2240280"/>
            <a:ext cx="3840480" cy="365760"/>
          </a:xfrm>
          <a:prstGeom prst="rect">
            <a:avLst/>
          </a:prstGeom>
          <a:noFill/>
          <a:ln/>
        </p:spPr>
        <p:txBody>
          <a:bodyPr wrap="square" lIns="0" tIns="0" rIns="0" bIns="0" rtlCol="0" anchor="ctr"/>
          <a:lstStyle/>
          <a:p>
            <a:pPr indent="0" marL="0">
              <a:buNone/>
            </a:pPr>
            <a:r>
              <a:rPr lang="en-US" sz="1400" i="1" dirty="0">
                <a:solidFill>
                  <a:schemeClr val="accent5"/>
                </a:solidFill>
              </a:rPr>
              <a:t>Como dejar un mensaje: envío y sigo</a:t>
            </a:r>
            <a:endParaRPr lang="en-US" sz="1400" dirty="0"/>
          </a:p>
        </p:txBody>
      </p:sp>
      <p:sp>
        <p:nvSpPr>
          <p:cNvPr id="14" name="Lista Asincrónico"/>
          <p:cNvSpPr txBox="1"/>
          <p:nvPr/>
        </p:nvSpPr>
        <p:spPr>
          <a:xfrm>
            <a:off x="6629400" y="2880360"/>
            <a:ext cx="461772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Notificaciones y auditoría, por tópico (hoy)</a:t>
            </a:r>
            <a:endParaRPr lang="en-US" sz="1600" dirty="0"/>
          </a:p>
          <a:p>
            <a:pPr marL="342900" indent="-342900">
              <a:spcAft>
                <a:spcPts val="1000"/>
              </a:spcAft>
              <a:buSzPct val="100000"/>
              <a:buChar char="•"/>
            </a:pPr>
            <a:r>
              <a:rPr lang="en-US" sz="1600" dirty="0">
                <a:solidFill>
                  <a:schemeClr val="tx1"/>
                </a:solidFill>
              </a:rPr>
              <a:t>Facturación, por tópico con filtro</a:t>
            </a:r>
            <a:endParaRPr lang="en-US" sz="1600" dirty="0"/>
          </a:p>
          <a:p>
            <a:pPr marL="342900" indent="-342900">
              <a:spcAft>
                <a:spcPts val="1000"/>
              </a:spcAft>
              <a:buSzPct val="100000"/>
              <a:buChar char="•"/>
            </a:pPr>
            <a:r>
              <a:rPr lang="en-US" sz="1600" dirty="0">
                <a:solidFill>
                  <a:schemeClr val="tx1"/>
                </a:solidFill>
              </a:rPr>
              <a:t>Autorizaciones, por cola punto a punto</a:t>
            </a:r>
            <a:endParaRPr lang="en-US" sz="1600" dirty="0"/>
          </a:p>
          <a:p>
            <a:pPr marL="342900" indent="-342900">
              <a:spcAft>
                <a:spcPts val="1000"/>
              </a:spcAft>
              <a:buSzPct val="100000"/>
              <a:buChar char="•"/>
            </a:pPr>
            <a:r>
              <a:rPr lang="en-US" sz="1600" dirty="0">
                <a:solidFill>
                  <a:schemeClr val="tx1"/>
                </a:solidFill>
              </a:rPr>
              <a:t>Pueden esperar y tienen varios interesados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Si algo falla, no se pierde ni se duplica</a:t>
            </a:r>
            <a:endParaRPr lang="en-US" sz="3400" dirty="0"/>
          </a:p>
        </p:txBody>
      </p:sp>
      <p:sp>
        <p:nvSpPr>
          <p:cNvPr id="3" name="Tarjeta Transactional Client"/>
          <p:cNvSpPr/>
          <p:nvPr/>
        </p:nvSpPr>
        <p:spPr>
          <a:xfrm>
            <a:off x="548640" y="1600200"/>
            <a:ext cx="544068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4" name="Transactional Client círculo"/>
          <p:cNvSpPr/>
          <p:nvPr/>
        </p:nvSpPr>
        <p:spPr>
          <a:xfrm>
            <a:off x="868680" y="1965960"/>
            <a:ext cx="685800" cy="685800"/>
          </a:xfrm>
          <a:prstGeom prst="ellipse">
            <a:avLst/>
          </a:prstGeom>
          <a:solidFill>
            <a:schemeClr val="accent2"/>
          </a:solidFill>
          <a:ln w="12700">
            <a:solidFill>
              <a:schemeClr val="accent2"/>
            </a:solidFill>
            <a:prstDash val="solid"/>
          </a:ln>
        </p:spPr>
      </p:sp>
      <p:pic>
        <p:nvPicPr>
          <p:cNvPr id="5" name="Transactional Client ícono" descr="preencoded.png">    </p:cNvPr>
          <p:cNvPicPr>
            <a:picLocks noChangeAspect="1"/>
          </p:cNvPicPr>
          <p:nvPr/>
        </p:nvPicPr>
        <p:blipFill>
          <a:blip r:embed="rId1"/>
          <a:stretch>
            <a:fillRect/>
          </a:stretch>
        </p:blipFill>
        <p:spPr>
          <a:xfrm>
            <a:off x="1033272" y="2130552"/>
            <a:ext cx="356616" cy="356616"/>
          </a:xfrm>
          <a:prstGeom prst="rect">
            <a:avLst/>
          </a:prstGeom>
        </p:spPr>
      </p:pic>
      <p:sp>
        <p:nvSpPr>
          <p:cNvPr id="6" name="Patrón Transactional Client"/>
          <p:cNvSpPr txBox="1"/>
          <p:nvPr/>
        </p:nvSpPr>
        <p:spPr>
          <a:xfrm>
            <a:off x="1783080" y="1920240"/>
            <a:ext cx="38862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Transactional Client</a:t>
            </a:r>
            <a:endParaRPr lang="en-US" sz="2000" dirty="0"/>
          </a:p>
        </p:txBody>
      </p:sp>
      <p:sp>
        <p:nvSpPr>
          <p:cNvPr id="7" name="Falla Transactional Client"/>
          <p:cNvSpPr txBox="1"/>
          <p:nvPr/>
        </p:nvSpPr>
        <p:spPr>
          <a:xfrm>
            <a:off x="1783080" y="2377440"/>
            <a:ext cx="3886200" cy="365760"/>
          </a:xfrm>
          <a:prstGeom prst="rect">
            <a:avLst/>
          </a:prstGeom>
          <a:noFill/>
          <a:ln/>
        </p:spPr>
        <p:txBody>
          <a:bodyPr wrap="square" lIns="0" tIns="0" rIns="0" bIns="0" rtlCol="0" anchor="ctr"/>
          <a:lstStyle/>
          <a:p>
            <a:pPr indent="0" marL="0">
              <a:buNone/>
            </a:pPr>
            <a:r>
              <a:rPr lang="en-US" sz="1500" b="1" dirty="0">
                <a:solidFill>
                  <a:schemeClr val="accent6"/>
                </a:solidFill>
              </a:rPr>
              <a:t>Falla el guardado del turno</a:t>
            </a:r>
            <a:endParaRPr lang="en-US" sz="1500" dirty="0"/>
          </a:p>
        </p:txBody>
      </p:sp>
      <p:sp>
        <p:nvSpPr>
          <p:cNvPr id="8" name="Resultado Transactional Client"/>
          <p:cNvSpPr txBox="1"/>
          <p:nvPr/>
        </p:nvSpPr>
        <p:spPr>
          <a:xfrm>
            <a:off x="1783080" y="2788920"/>
            <a:ext cx="3886200" cy="731520"/>
          </a:xfrm>
          <a:prstGeom prst="rect">
            <a:avLst/>
          </a:prstGeom>
          <a:noFill/>
          <a:ln/>
        </p:spPr>
        <p:txBody>
          <a:bodyPr wrap="square" lIns="0" tIns="0" rIns="0" bIns="0" rtlCol="0" anchor="t"/>
          <a:lstStyle/>
          <a:p>
            <a:pPr indent="0" marL="0">
              <a:buNone/>
            </a:pPr>
            <a:r>
              <a:rPr lang="en-US" sz="1500" dirty="0">
                <a:solidFill>
                  <a:schemeClr val="tx1"/>
                </a:solidFill>
              </a:rPr>
              <a:t>El mensaje no sale: nadie recibe un aviso falso</a:t>
            </a:r>
            <a:endParaRPr lang="en-US" sz="1500" dirty="0"/>
          </a:p>
        </p:txBody>
      </p:sp>
      <p:sp>
        <p:nvSpPr>
          <p:cNvPr id="9" name="Tarjeta Idempotent Receiver"/>
          <p:cNvSpPr/>
          <p:nvPr/>
        </p:nvSpPr>
        <p:spPr>
          <a:xfrm>
            <a:off x="6172200" y="1600200"/>
            <a:ext cx="544068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10" name="Idempotent Receiver círculo"/>
          <p:cNvSpPr/>
          <p:nvPr/>
        </p:nvSpPr>
        <p:spPr>
          <a:xfrm>
            <a:off x="6492240" y="1965960"/>
            <a:ext cx="685800" cy="685800"/>
          </a:xfrm>
          <a:prstGeom prst="ellipse">
            <a:avLst/>
          </a:prstGeom>
          <a:solidFill>
            <a:schemeClr val="accent2"/>
          </a:solidFill>
          <a:ln w="12700">
            <a:solidFill>
              <a:schemeClr val="accent2"/>
            </a:solidFill>
            <a:prstDash val="solid"/>
          </a:ln>
        </p:spPr>
      </p:sp>
      <p:pic>
        <p:nvPicPr>
          <p:cNvPr id="11" name="Idempotent Receiver ícono" descr="preencoded.png">    </p:cNvPr>
          <p:cNvPicPr>
            <a:picLocks noChangeAspect="1"/>
          </p:cNvPicPr>
          <p:nvPr/>
        </p:nvPicPr>
        <p:blipFill>
          <a:blip r:embed="rId2"/>
          <a:stretch>
            <a:fillRect/>
          </a:stretch>
        </p:blipFill>
        <p:spPr>
          <a:xfrm>
            <a:off x="6656832" y="2130552"/>
            <a:ext cx="356616" cy="356616"/>
          </a:xfrm>
          <a:prstGeom prst="rect">
            <a:avLst/>
          </a:prstGeom>
        </p:spPr>
      </p:pic>
      <p:sp>
        <p:nvSpPr>
          <p:cNvPr id="12" name="Patrón Idempotent Receiver"/>
          <p:cNvSpPr txBox="1"/>
          <p:nvPr/>
        </p:nvSpPr>
        <p:spPr>
          <a:xfrm>
            <a:off x="7406640" y="1920240"/>
            <a:ext cx="38862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Idempotent Receiver</a:t>
            </a:r>
            <a:endParaRPr lang="en-US" sz="2000" dirty="0"/>
          </a:p>
        </p:txBody>
      </p:sp>
      <p:sp>
        <p:nvSpPr>
          <p:cNvPr id="13" name="Falla Idempotent Receiver"/>
          <p:cNvSpPr txBox="1"/>
          <p:nvPr/>
        </p:nvSpPr>
        <p:spPr>
          <a:xfrm>
            <a:off x="7406640" y="2377440"/>
            <a:ext cx="3886200" cy="365760"/>
          </a:xfrm>
          <a:prstGeom prst="rect">
            <a:avLst/>
          </a:prstGeom>
          <a:noFill/>
          <a:ln/>
        </p:spPr>
        <p:txBody>
          <a:bodyPr wrap="square" lIns="0" tIns="0" rIns="0" bIns="0" rtlCol="0" anchor="ctr"/>
          <a:lstStyle/>
          <a:p>
            <a:pPr indent="0" marL="0">
              <a:buNone/>
            </a:pPr>
            <a:r>
              <a:rPr lang="en-US" sz="1500" b="1" dirty="0">
                <a:solidFill>
                  <a:schemeClr val="accent6"/>
                </a:solidFill>
              </a:rPr>
              <a:t>El broker entrega dos veces</a:t>
            </a:r>
            <a:endParaRPr lang="en-US" sz="1500" dirty="0"/>
          </a:p>
        </p:txBody>
      </p:sp>
      <p:sp>
        <p:nvSpPr>
          <p:cNvPr id="14" name="Resultado Idempotent Receiver"/>
          <p:cNvSpPr txBox="1"/>
          <p:nvPr/>
        </p:nvSpPr>
        <p:spPr>
          <a:xfrm>
            <a:off x="7406640" y="2788920"/>
            <a:ext cx="3886200" cy="731520"/>
          </a:xfrm>
          <a:prstGeom prst="rect">
            <a:avLst/>
          </a:prstGeom>
          <a:noFill/>
          <a:ln/>
        </p:spPr>
        <p:txBody>
          <a:bodyPr wrap="square" lIns="0" tIns="0" rIns="0" bIns="0" rtlCol="0" anchor="t"/>
          <a:lstStyle/>
          <a:p>
            <a:pPr indent="0" marL="0">
              <a:buNone/>
            </a:pPr>
            <a:r>
              <a:rPr lang="en-US" sz="1500" dirty="0">
                <a:solidFill>
                  <a:schemeClr val="tx1"/>
                </a:solidFill>
              </a:rPr>
              <a:t>La tabla evento_procesado descarta el repetido</a:t>
            </a:r>
            <a:endParaRPr lang="en-US" sz="1500" dirty="0"/>
          </a:p>
        </p:txBody>
      </p:sp>
      <p:sp>
        <p:nvSpPr>
          <p:cNvPr id="15" name="Tarjeta Durable Subscriber"/>
          <p:cNvSpPr/>
          <p:nvPr/>
        </p:nvSpPr>
        <p:spPr>
          <a:xfrm>
            <a:off x="548640" y="3840480"/>
            <a:ext cx="544068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16" name="Durable Subscriber círculo"/>
          <p:cNvSpPr/>
          <p:nvPr/>
        </p:nvSpPr>
        <p:spPr>
          <a:xfrm>
            <a:off x="868680" y="4206240"/>
            <a:ext cx="685800" cy="685800"/>
          </a:xfrm>
          <a:prstGeom prst="ellipse">
            <a:avLst/>
          </a:prstGeom>
          <a:solidFill>
            <a:schemeClr val="accent2"/>
          </a:solidFill>
          <a:ln w="12700">
            <a:solidFill>
              <a:schemeClr val="accent2"/>
            </a:solidFill>
            <a:prstDash val="solid"/>
          </a:ln>
        </p:spPr>
      </p:sp>
      <p:pic>
        <p:nvPicPr>
          <p:cNvPr id="17" name="Durable Subscriber ícono" descr="preencoded.png">    </p:cNvPr>
          <p:cNvPicPr>
            <a:picLocks noChangeAspect="1"/>
          </p:cNvPicPr>
          <p:nvPr/>
        </p:nvPicPr>
        <p:blipFill>
          <a:blip r:embed="rId3"/>
          <a:stretch>
            <a:fillRect/>
          </a:stretch>
        </p:blipFill>
        <p:spPr>
          <a:xfrm>
            <a:off x="1033272" y="4370832"/>
            <a:ext cx="356616" cy="356616"/>
          </a:xfrm>
          <a:prstGeom prst="rect">
            <a:avLst/>
          </a:prstGeom>
        </p:spPr>
      </p:pic>
      <p:sp>
        <p:nvSpPr>
          <p:cNvPr id="18" name="Patrón Durable Subscriber"/>
          <p:cNvSpPr txBox="1"/>
          <p:nvPr/>
        </p:nvSpPr>
        <p:spPr>
          <a:xfrm>
            <a:off x="1783080" y="4160520"/>
            <a:ext cx="38862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Durable Subscriber</a:t>
            </a:r>
            <a:endParaRPr lang="en-US" sz="2000" dirty="0"/>
          </a:p>
        </p:txBody>
      </p:sp>
      <p:sp>
        <p:nvSpPr>
          <p:cNvPr id="19" name="Falla Durable Subscriber"/>
          <p:cNvSpPr txBox="1"/>
          <p:nvPr/>
        </p:nvSpPr>
        <p:spPr>
          <a:xfrm>
            <a:off x="1783080" y="4617720"/>
            <a:ext cx="3886200" cy="365760"/>
          </a:xfrm>
          <a:prstGeom prst="rect">
            <a:avLst/>
          </a:prstGeom>
          <a:noFill/>
          <a:ln/>
        </p:spPr>
        <p:txBody>
          <a:bodyPr wrap="square" lIns="0" tIns="0" rIns="0" bIns="0" rtlCol="0" anchor="ctr"/>
          <a:lstStyle/>
          <a:p>
            <a:pPr indent="0" marL="0">
              <a:buNone/>
            </a:pPr>
            <a:r>
              <a:rPr lang="en-US" sz="1500" b="1" dirty="0">
                <a:solidFill>
                  <a:schemeClr val="accent6"/>
                </a:solidFill>
              </a:rPr>
              <a:t>Un suscriptor está caído</a:t>
            </a:r>
            <a:endParaRPr lang="en-US" sz="1500" dirty="0"/>
          </a:p>
        </p:txBody>
      </p:sp>
      <p:sp>
        <p:nvSpPr>
          <p:cNvPr id="20" name="Resultado Durable Subscriber"/>
          <p:cNvSpPr txBox="1"/>
          <p:nvPr/>
        </p:nvSpPr>
        <p:spPr>
          <a:xfrm>
            <a:off x="1783080" y="5029200"/>
            <a:ext cx="3886200" cy="731520"/>
          </a:xfrm>
          <a:prstGeom prst="rect">
            <a:avLst/>
          </a:prstGeom>
          <a:noFill/>
          <a:ln/>
        </p:spPr>
        <p:txBody>
          <a:bodyPr wrap="square" lIns="0" tIns="0" rIns="0" bIns="0" rtlCol="0" anchor="t"/>
          <a:lstStyle/>
          <a:p>
            <a:pPr indent="0" marL="0">
              <a:buNone/>
            </a:pPr>
            <a:r>
              <a:rPr lang="en-US" sz="1500" dirty="0">
                <a:solidFill>
                  <a:schemeClr val="tx1"/>
                </a:solidFill>
              </a:rPr>
              <a:t>El broker guarda el mensaje; probado reiniciando WildFly</a:t>
            </a:r>
            <a:endParaRPr lang="en-US" sz="1500" dirty="0"/>
          </a:p>
        </p:txBody>
      </p:sp>
      <p:sp>
        <p:nvSpPr>
          <p:cNvPr id="21" name="Tarjeta Dead Letter Channel"/>
          <p:cNvSpPr/>
          <p:nvPr/>
        </p:nvSpPr>
        <p:spPr>
          <a:xfrm>
            <a:off x="6172200" y="3840480"/>
            <a:ext cx="544068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22" name="Dead Letter Channel círculo"/>
          <p:cNvSpPr/>
          <p:nvPr/>
        </p:nvSpPr>
        <p:spPr>
          <a:xfrm>
            <a:off x="6492240" y="4206240"/>
            <a:ext cx="685800" cy="685800"/>
          </a:xfrm>
          <a:prstGeom prst="ellipse">
            <a:avLst/>
          </a:prstGeom>
          <a:solidFill>
            <a:schemeClr val="accent2"/>
          </a:solidFill>
          <a:ln w="12700">
            <a:solidFill>
              <a:schemeClr val="accent2"/>
            </a:solidFill>
            <a:prstDash val="solid"/>
          </a:ln>
        </p:spPr>
      </p:sp>
      <p:pic>
        <p:nvPicPr>
          <p:cNvPr id="23" name="Dead Letter Channel ícono" descr="preencoded.png">    </p:cNvPr>
          <p:cNvPicPr>
            <a:picLocks noChangeAspect="1"/>
          </p:cNvPicPr>
          <p:nvPr/>
        </p:nvPicPr>
        <p:blipFill>
          <a:blip r:embed="rId4"/>
          <a:stretch>
            <a:fillRect/>
          </a:stretch>
        </p:blipFill>
        <p:spPr>
          <a:xfrm>
            <a:off x="6656832" y="4370832"/>
            <a:ext cx="356616" cy="356616"/>
          </a:xfrm>
          <a:prstGeom prst="rect">
            <a:avLst/>
          </a:prstGeom>
        </p:spPr>
      </p:pic>
      <p:sp>
        <p:nvSpPr>
          <p:cNvPr id="24" name="Patrón Dead Letter Channel"/>
          <p:cNvSpPr txBox="1"/>
          <p:nvPr/>
        </p:nvSpPr>
        <p:spPr>
          <a:xfrm>
            <a:off x="7406640" y="4160520"/>
            <a:ext cx="38862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Dead Letter Channel</a:t>
            </a:r>
            <a:endParaRPr lang="en-US" sz="2000" dirty="0"/>
          </a:p>
        </p:txBody>
      </p:sp>
      <p:sp>
        <p:nvSpPr>
          <p:cNvPr id="25" name="Falla Dead Letter Channel"/>
          <p:cNvSpPr txBox="1"/>
          <p:nvPr/>
        </p:nvSpPr>
        <p:spPr>
          <a:xfrm>
            <a:off x="7406640" y="4617720"/>
            <a:ext cx="3886200" cy="365760"/>
          </a:xfrm>
          <a:prstGeom prst="rect">
            <a:avLst/>
          </a:prstGeom>
          <a:noFill/>
          <a:ln/>
        </p:spPr>
        <p:txBody>
          <a:bodyPr wrap="square" lIns="0" tIns="0" rIns="0" bIns="0" rtlCol="0" anchor="ctr"/>
          <a:lstStyle/>
          <a:p>
            <a:pPr indent="0" marL="0">
              <a:buNone/>
            </a:pPr>
            <a:r>
              <a:rPr lang="en-US" sz="1500" b="1" dirty="0">
                <a:solidFill>
                  <a:schemeClr val="accent6"/>
                </a:solidFill>
              </a:rPr>
              <a:t>Llega un mensaje roto</a:t>
            </a:r>
            <a:endParaRPr lang="en-US" sz="1500" dirty="0"/>
          </a:p>
        </p:txBody>
      </p:sp>
      <p:sp>
        <p:nvSpPr>
          <p:cNvPr id="26" name="Resultado Dead Letter Channel"/>
          <p:cNvSpPr txBox="1"/>
          <p:nvPr/>
        </p:nvSpPr>
        <p:spPr>
          <a:xfrm>
            <a:off x="7406640" y="5029200"/>
            <a:ext cx="3886200" cy="731520"/>
          </a:xfrm>
          <a:prstGeom prst="rect">
            <a:avLst/>
          </a:prstGeom>
          <a:noFill/>
          <a:ln/>
        </p:spPr>
        <p:txBody>
          <a:bodyPr wrap="square" lIns="0" tIns="0" rIns="0" bIns="0" rtlCol="0" anchor="t"/>
          <a:lstStyle/>
          <a:p>
            <a:pPr indent="0" marL="0">
              <a:buNone/>
            </a:pPr>
            <a:r>
              <a:rPr lang="en-US" sz="1500" dirty="0">
                <a:solidFill>
                  <a:schemeClr val="tx1"/>
                </a:solidFill>
              </a:rPr>
              <a:t>3 intentos cada 5 s y se aparta a la DLQ sin trabar nada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Patrones aplicados, y encadenados entre sí</a:t>
            </a:r>
            <a:endParaRPr lang="en-US" sz="3400" dirty="0"/>
          </a:p>
        </p:txBody>
      </p:sp>
      <p:sp>
        <p:nvSpPr>
          <p:cNvPr id="3" name="Recuadro total"/>
          <p:cNvSpPr/>
          <p:nvPr/>
        </p:nvSpPr>
        <p:spPr>
          <a:xfrm>
            <a:off x="548640" y="1463040"/>
            <a:ext cx="3291840" cy="4663440"/>
          </a:xfrm>
          <a:prstGeom prst="roundRect">
            <a:avLst>
              <a:gd name="adj" fmla="val 3333"/>
            </a:avLst>
          </a:prstGeom>
          <a:solidFill>
            <a:schemeClr val="tx2"/>
          </a:solidFill>
          <a:ln w="12700">
            <a:solidFill>
              <a:srgbClr val="16308C"/>
            </a:solidFill>
            <a:prstDash val="solid"/>
          </a:ln>
          <a:effectLst>
            <a:outerShdw sx="100000" sy="100000" kx="0" ky="0" algn="bl" rotWithShape="0" blurRad="101600" dist="25400" dir="5400000">
              <a:srgbClr val="1A2238">
                <a:alpha val="12000"/>
              </a:srgbClr>
            </a:outerShdw>
          </a:effectLst>
        </p:spPr>
      </p:sp>
      <p:sp>
        <p:nvSpPr>
          <p:cNvPr id="4" name="Total patrones"/>
          <p:cNvSpPr txBox="1"/>
          <p:nvPr/>
        </p:nvSpPr>
        <p:spPr>
          <a:xfrm>
            <a:off x="548640" y="2011680"/>
            <a:ext cx="3291840" cy="1645920"/>
          </a:xfrm>
          <a:prstGeom prst="rect">
            <a:avLst/>
          </a:prstGeom>
          <a:noFill/>
          <a:ln/>
        </p:spPr>
        <p:txBody>
          <a:bodyPr wrap="square" lIns="0" tIns="0" rIns="0" bIns="0" rtlCol="0" anchor="ctr"/>
          <a:lstStyle/>
          <a:p>
            <a:pPr algn="ctr" indent="0" marL="0">
              <a:buNone/>
            </a:pPr>
            <a:r>
              <a:rPr lang="en-US" sz="9600" b="1" dirty="0">
                <a:solidFill>
                  <a:schemeClr val="bg1"/>
                </a:solidFill>
                <a:latin typeface="Cambria" pitchFamily="34" charset="0"/>
                <a:ea typeface="Cambria" pitchFamily="34" charset="-122"/>
                <a:cs typeface="Cambria" pitchFamily="34" charset="-120"/>
              </a:rPr>
              <a:t>13</a:t>
            </a:r>
            <a:endParaRPr lang="en-US" sz="9600" dirty="0"/>
          </a:p>
        </p:txBody>
      </p:sp>
      <p:sp>
        <p:nvSpPr>
          <p:cNvPr id="5" name="Texto total"/>
          <p:cNvSpPr txBox="1"/>
          <p:nvPr/>
        </p:nvSpPr>
        <p:spPr>
          <a:xfrm>
            <a:off x="822960" y="3749040"/>
            <a:ext cx="2743200" cy="914400"/>
          </a:xfrm>
          <a:prstGeom prst="rect">
            <a:avLst/>
          </a:prstGeom>
          <a:noFill/>
          <a:ln/>
        </p:spPr>
        <p:txBody>
          <a:bodyPr wrap="square" lIns="0" tIns="0" rIns="0" bIns="0" rtlCol="0" anchor="ctr"/>
          <a:lstStyle/>
          <a:p>
            <a:pPr algn="ctr" indent="0" marL="0">
              <a:buNone/>
            </a:pPr>
            <a:r>
              <a:rPr lang="en-US" sz="1700" dirty="0">
                <a:solidFill>
                  <a:srgbClr val="C9D6F7"/>
                </a:solidFill>
              </a:rPr>
              <a:t>patrones con código real, no solo nombrados</a:t>
            </a:r>
            <a:endParaRPr lang="en-US" sz="1700" dirty="0"/>
          </a:p>
        </p:txBody>
      </p:sp>
      <p:sp>
        <p:nvSpPr>
          <p:cNvPr id="6" name="Grupo Diseño (GoF y Java EE)"/>
          <p:cNvSpPr txBox="1"/>
          <p:nvPr/>
        </p:nvSpPr>
        <p:spPr>
          <a:xfrm>
            <a:off x="4206240" y="1463040"/>
            <a:ext cx="3657600" cy="411480"/>
          </a:xfrm>
          <a:prstGeom prst="rect">
            <a:avLst/>
          </a:prstGeom>
          <a:noFill/>
          <a:ln/>
        </p:spPr>
        <p:txBody>
          <a:bodyPr wrap="square" lIns="0" tIns="0" rIns="0" bIns="0" rtlCol="0" anchor="ctr"/>
          <a:lstStyle/>
          <a:p>
            <a:pPr indent="0" marL="0">
              <a:buNone/>
            </a:pPr>
            <a:r>
              <a:rPr lang="en-US" sz="1600" b="1" dirty="0">
                <a:solidFill>
                  <a:schemeClr val="accent1"/>
                </a:solidFill>
              </a:rPr>
              <a:t>Diseño (GoF y Java EE)</a:t>
            </a:r>
            <a:endParaRPr lang="en-US" sz="1600" dirty="0"/>
          </a:p>
        </p:txBody>
      </p:sp>
      <p:sp>
        <p:nvSpPr>
          <p:cNvPr id="7" name="Fila DAO"/>
          <p:cNvSpPr/>
          <p:nvPr/>
        </p:nvSpPr>
        <p:spPr>
          <a:xfrm>
            <a:off x="4206240" y="1965960"/>
            <a:ext cx="3611880" cy="530352"/>
          </a:xfrm>
          <a:prstGeom prst="roundRect">
            <a:avLst>
              <a:gd name="adj" fmla="val 13793"/>
            </a:avLst>
          </a:prstGeom>
          <a:solidFill>
            <a:schemeClr val="bg2"/>
          </a:solidFill>
          <a:ln w="12700">
            <a:solidFill>
              <a:srgbClr val="EEF3FF"/>
            </a:solidFill>
            <a:prstDash val="solid"/>
          </a:ln>
        </p:spPr>
      </p:sp>
      <p:sp>
        <p:nvSpPr>
          <p:cNvPr id="8" name="Texto DAO"/>
          <p:cNvSpPr txBox="1"/>
          <p:nvPr/>
        </p:nvSpPr>
        <p:spPr>
          <a:xfrm>
            <a:off x="4389120" y="1965960"/>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DAO</a:t>
            </a:r>
            <a:endParaRPr lang="en-US" sz="1400" dirty="0"/>
          </a:p>
          <a:p>
            <a:pPr indent="0" marL="0">
              <a:buNone/>
            </a:pPr>
            <a:r>
              <a:rPr lang="en-US" sz="1200" dirty="0">
                <a:solidFill>
                  <a:schemeClr val="accent5"/>
                </a:solidFill>
              </a:rPr>
              <a:t>TurnoDAO y 6 más</a:t>
            </a:r>
            <a:endParaRPr lang="en-US" sz="1400" dirty="0"/>
          </a:p>
        </p:txBody>
      </p:sp>
      <p:sp>
        <p:nvSpPr>
          <p:cNvPr id="9" name="Fila Facade"/>
          <p:cNvSpPr/>
          <p:nvPr/>
        </p:nvSpPr>
        <p:spPr>
          <a:xfrm>
            <a:off x="4206240" y="2569464"/>
            <a:ext cx="3611880" cy="530352"/>
          </a:xfrm>
          <a:prstGeom prst="roundRect">
            <a:avLst>
              <a:gd name="adj" fmla="val 13793"/>
            </a:avLst>
          </a:prstGeom>
          <a:solidFill>
            <a:schemeClr val="bg2"/>
          </a:solidFill>
          <a:ln w="12700">
            <a:solidFill>
              <a:srgbClr val="EEF3FF"/>
            </a:solidFill>
            <a:prstDash val="solid"/>
          </a:ln>
        </p:spPr>
      </p:sp>
      <p:sp>
        <p:nvSpPr>
          <p:cNvPr id="10" name="Texto Facade"/>
          <p:cNvSpPr txBox="1"/>
          <p:nvPr/>
        </p:nvSpPr>
        <p:spPr>
          <a:xfrm>
            <a:off x="4389120" y="2569464"/>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Facade</a:t>
            </a:r>
            <a:endParaRPr lang="en-US" sz="1400" dirty="0"/>
          </a:p>
          <a:p>
            <a:pPr indent="0" marL="0">
              <a:buNone/>
            </a:pPr>
            <a:r>
              <a:rPr lang="en-US" sz="1200" dirty="0">
                <a:solidFill>
                  <a:schemeClr val="accent5"/>
                </a:solidFill>
              </a:rPr>
              <a:t>ServicioDeTurnosBean</a:t>
            </a:r>
            <a:endParaRPr lang="en-US" sz="1400" dirty="0"/>
          </a:p>
        </p:txBody>
      </p:sp>
      <p:sp>
        <p:nvSpPr>
          <p:cNvPr id="11" name="Fila Factory"/>
          <p:cNvSpPr/>
          <p:nvPr/>
        </p:nvSpPr>
        <p:spPr>
          <a:xfrm>
            <a:off x="4206240" y="3172968"/>
            <a:ext cx="3611880" cy="530352"/>
          </a:xfrm>
          <a:prstGeom prst="roundRect">
            <a:avLst>
              <a:gd name="adj" fmla="val 13793"/>
            </a:avLst>
          </a:prstGeom>
          <a:solidFill>
            <a:schemeClr val="bg2"/>
          </a:solidFill>
          <a:ln w="12700">
            <a:solidFill>
              <a:srgbClr val="EEF3FF"/>
            </a:solidFill>
            <a:prstDash val="solid"/>
          </a:ln>
        </p:spPr>
      </p:sp>
      <p:sp>
        <p:nvSpPr>
          <p:cNvPr id="12" name="Texto Factory"/>
          <p:cNvSpPr txBox="1"/>
          <p:nvPr/>
        </p:nvSpPr>
        <p:spPr>
          <a:xfrm>
            <a:off x="4389120" y="3172968"/>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Factory</a:t>
            </a:r>
            <a:endParaRPr lang="en-US" sz="1400" dirty="0"/>
          </a:p>
          <a:p>
            <a:pPr indent="0" marL="0">
              <a:buNone/>
            </a:pPr>
            <a:r>
              <a:rPr lang="en-US" sz="1200" dirty="0">
                <a:solidFill>
                  <a:schemeClr val="accent5"/>
                </a:solidFill>
              </a:rPr>
              <a:t>UsuarioFactory</a:t>
            </a:r>
            <a:endParaRPr lang="en-US" sz="1400" dirty="0"/>
          </a:p>
        </p:txBody>
      </p:sp>
      <p:sp>
        <p:nvSpPr>
          <p:cNvPr id="13" name="Fila Builder"/>
          <p:cNvSpPr/>
          <p:nvPr/>
        </p:nvSpPr>
        <p:spPr>
          <a:xfrm>
            <a:off x="4206240" y="3776472"/>
            <a:ext cx="3611880" cy="530352"/>
          </a:xfrm>
          <a:prstGeom prst="roundRect">
            <a:avLst>
              <a:gd name="adj" fmla="val 13793"/>
            </a:avLst>
          </a:prstGeom>
          <a:solidFill>
            <a:schemeClr val="bg2"/>
          </a:solidFill>
          <a:ln w="12700">
            <a:solidFill>
              <a:srgbClr val="EEF3FF"/>
            </a:solidFill>
            <a:prstDash val="solid"/>
          </a:ln>
        </p:spPr>
      </p:sp>
      <p:sp>
        <p:nvSpPr>
          <p:cNvPr id="14" name="Texto Builder"/>
          <p:cNvSpPr txBox="1"/>
          <p:nvPr/>
        </p:nvSpPr>
        <p:spPr>
          <a:xfrm>
            <a:off x="4389120" y="3776472"/>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Builder</a:t>
            </a:r>
            <a:endParaRPr lang="en-US" sz="1400" dirty="0"/>
          </a:p>
          <a:p>
            <a:pPr indent="0" marL="0">
              <a:buNone/>
            </a:pPr>
            <a:r>
              <a:rPr lang="en-US" sz="1200" dirty="0">
                <a:solidFill>
                  <a:schemeClr val="accent5"/>
                </a:solidFill>
              </a:rPr>
              <a:t>EventoTurno.Builder</a:t>
            </a:r>
            <a:endParaRPr lang="en-US" sz="1400" dirty="0"/>
          </a:p>
        </p:txBody>
      </p:sp>
      <p:sp>
        <p:nvSpPr>
          <p:cNvPr id="15" name="Fila Template Method"/>
          <p:cNvSpPr/>
          <p:nvPr/>
        </p:nvSpPr>
        <p:spPr>
          <a:xfrm>
            <a:off x="4206240" y="4379976"/>
            <a:ext cx="3611880" cy="530352"/>
          </a:xfrm>
          <a:prstGeom prst="roundRect">
            <a:avLst>
              <a:gd name="adj" fmla="val 13793"/>
            </a:avLst>
          </a:prstGeom>
          <a:solidFill>
            <a:schemeClr val="bg2"/>
          </a:solidFill>
          <a:ln w="12700">
            <a:solidFill>
              <a:srgbClr val="EEF3FF"/>
            </a:solidFill>
            <a:prstDash val="solid"/>
          </a:ln>
        </p:spPr>
      </p:sp>
      <p:sp>
        <p:nvSpPr>
          <p:cNvPr id="16" name="Texto Template Method"/>
          <p:cNvSpPr txBox="1"/>
          <p:nvPr/>
        </p:nvSpPr>
        <p:spPr>
          <a:xfrm>
            <a:off x="4389120" y="4379976"/>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Template Method</a:t>
            </a:r>
            <a:endParaRPr lang="en-US" sz="1400" dirty="0"/>
          </a:p>
          <a:p>
            <a:pPr indent="0" marL="0">
              <a:buNone/>
            </a:pPr>
            <a:r>
              <a:rPr lang="en-US" sz="1200" dirty="0">
                <a:solidFill>
                  <a:schemeClr val="accent5"/>
                </a:solidFill>
              </a:rPr>
              <a:t>ProcesadorNotificacion</a:t>
            </a:r>
            <a:endParaRPr lang="en-US" sz="1400" dirty="0"/>
          </a:p>
        </p:txBody>
      </p:sp>
      <p:sp>
        <p:nvSpPr>
          <p:cNvPr id="17" name="Fila Factory Method"/>
          <p:cNvSpPr/>
          <p:nvPr/>
        </p:nvSpPr>
        <p:spPr>
          <a:xfrm>
            <a:off x="4206240" y="4983480"/>
            <a:ext cx="3611880" cy="530352"/>
          </a:xfrm>
          <a:prstGeom prst="roundRect">
            <a:avLst>
              <a:gd name="adj" fmla="val 13793"/>
            </a:avLst>
          </a:prstGeom>
          <a:solidFill>
            <a:schemeClr val="bg2"/>
          </a:solidFill>
          <a:ln w="12700">
            <a:solidFill>
              <a:srgbClr val="EEF3FF"/>
            </a:solidFill>
            <a:prstDash val="solid"/>
          </a:ln>
        </p:spPr>
      </p:sp>
      <p:sp>
        <p:nvSpPr>
          <p:cNvPr id="18" name="Texto Factory Method"/>
          <p:cNvSpPr txBox="1"/>
          <p:nvPr/>
        </p:nvSpPr>
        <p:spPr>
          <a:xfrm>
            <a:off x="4389120" y="4983480"/>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Factory Method</a:t>
            </a:r>
            <a:endParaRPr lang="en-US" sz="1400" dirty="0"/>
          </a:p>
          <a:p>
            <a:pPr indent="0" marL="0">
              <a:buNone/>
            </a:pPr>
            <a:r>
              <a:rPr lang="en-US" sz="1200" dirty="0">
                <a:solidFill>
                  <a:schemeClr val="accent5"/>
                </a:solidFill>
              </a:rPr>
              <a:t>crearNotificacion()</a:t>
            </a:r>
            <a:endParaRPr lang="en-US" sz="1400" dirty="0"/>
          </a:p>
        </p:txBody>
      </p:sp>
      <p:sp>
        <p:nvSpPr>
          <p:cNvPr id="19" name="Fila Transfer Object"/>
          <p:cNvSpPr/>
          <p:nvPr/>
        </p:nvSpPr>
        <p:spPr>
          <a:xfrm>
            <a:off x="4206240" y="5586984"/>
            <a:ext cx="3611880" cy="530352"/>
          </a:xfrm>
          <a:prstGeom prst="roundRect">
            <a:avLst>
              <a:gd name="adj" fmla="val 13793"/>
            </a:avLst>
          </a:prstGeom>
          <a:solidFill>
            <a:schemeClr val="bg2"/>
          </a:solidFill>
          <a:ln w="12700">
            <a:solidFill>
              <a:srgbClr val="EEF3FF"/>
            </a:solidFill>
            <a:prstDash val="solid"/>
          </a:ln>
        </p:spPr>
      </p:sp>
      <p:sp>
        <p:nvSpPr>
          <p:cNvPr id="20" name="Texto Transfer Object"/>
          <p:cNvSpPr txBox="1"/>
          <p:nvPr/>
        </p:nvSpPr>
        <p:spPr>
          <a:xfrm>
            <a:off x="4389120" y="5586984"/>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Transfer Object</a:t>
            </a:r>
            <a:endParaRPr lang="en-US" sz="1400" dirty="0"/>
          </a:p>
          <a:p>
            <a:pPr indent="0" marL="0">
              <a:buNone/>
            </a:pPr>
            <a:r>
              <a:rPr lang="en-US" sz="1200" dirty="0">
                <a:solidFill>
                  <a:schemeClr val="accent5"/>
                </a:solidFill>
              </a:rPr>
              <a:t>FilaMonitorDTO y 2 más</a:t>
            </a:r>
            <a:endParaRPr lang="en-US" sz="1400" dirty="0"/>
          </a:p>
        </p:txBody>
      </p:sp>
      <p:sp>
        <p:nvSpPr>
          <p:cNvPr id="21" name="Grupo Integración (Hohpe y Woolf)"/>
          <p:cNvSpPr txBox="1"/>
          <p:nvPr/>
        </p:nvSpPr>
        <p:spPr>
          <a:xfrm>
            <a:off x="8001000" y="1463040"/>
            <a:ext cx="3657600" cy="411480"/>
          </a:xfrm>
          <a:prstGeom prst="rect">
            <a:avLst/>
          </a:prstGeom>
          <a:noFill/>
          <a:ln/>
        </p:spPr>
        <p:txBody>
          <a:bodyPr wrap="square" lIns="0" tIns="0" rIns="0" bIns="0" rtlCol="0" anchor="ctr"/>
          <a:lstStyle/>
          <a:p>
            <a:pPr indent="0" marL="0">
              <a:buNone/>
            </a:pPr>
            <a:r>
              <a:rPr lang="en-US" sz="1600" b="1" dirty="0">
                <a:solidFill>
                  <a:schemeClr val="accent4"/>
                </a:solidFill>
              </a:rPr>
              <a:t>Integración (Hohpe y Woolf)</a:t>
            </a:r>
            <a:endParaRPr lang="en-US" sz="1600" dirty="0"/>
          </a:p>
        </p:txBody>
      </p:sp>
      <p:sp>
        <p:nvSpPr>
          <p:cNvPr id="22" name="Fila Publish-Subscribe"/>
          <p:cNvSpPr/>
          <p:nvPr/>
        </p:nvSpPr>
        <p:spPr>
          <a:xfrm>
            <a:off x="8001000" y="1965960"/>
            <a:ext cx="3611880" cy="530352"/>
          </a:xfrm>
          <a:prstGeom prst="roundRect">
            <a:avLst>
              <a:gd name="adj" fmla="val 13793"/>
            </a:avLst>
          </a:prstGeom>
          <a:solidFill>
            <a:schemeClr val="bg2"/>
          </a:solidFill>
          <a:ln w="12700">
            <a:solidFill>
              <a:srgbClr val="EEF3FF"/>
            </a:solidFill>
            <a:prstDash val="solid"/>
          </a:ln>
        </p:spPr>
      </p:sp>
      <p:sp>
        <p:nvSpPr>
          <p:cNvPr id="23" name="Texto Publish-Subscribe"/>
          <p:cNvSpPr txBox="1"/>
          <p:nvPr/>
        </p:nvSpPr>
        <p:spPr>
          <a:xfrm>
            <a:off x="8183880" y="1965960"/>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Publish-Subscribe</a:t>
            </a:r>
            <a:endParaRPr lang="en-US" sz="1400" dirty="0"/>
          </a:p>
          <a:p>
            <a:pPr indent="0" marL="0">
              <a:buNone/>
            </a:pPr>
            <a:r>
              <a:rPr lang="en-US" sz="1200" dirty="0">
                <a:solidFill>
                  <a:schemeClr val="accent5"/>
                </a:solidFill>
              </a:rPr>
              <a:t>topico.turnos</a:t>
            </a:r>
            <a:endParaRPr lang="en-US" sz="1400" dirty="0"/>
          </a:p>
        </p:txBody>
      </p:sp>
      <p:sp>
        <p:nvSpPr>
          <p:cNvPr id="24" name="Fila Durable Subscriber"/>
          <p:cNvSpPr/>
          <p:nvPr/>
        </p:nvSpPr>
        <p:spPr>
          <a:xfrm>
            <a:off x="8001000" y="2569464"/>
            <a:ext cx="3611880" cy="530352"/>
          </a:xfrm>
          <a:prstGeom prst="roundRect">
            <a:avLst>
              <a:gd name="adj" fmla="val 13793"/>
            </a:avLst>
          </a:prstGeom>
          <a:solidFill>
            <a:schemeClr val="bg2"/>
          </a:solidFill>
          <a:ln w="12700">
            <a:solidFill>
              <a:srgbClr val="EEF3FF"/>
            </a:solidFill>
            <a:prstDash val="solid"/>
          </a:ln>
        </p:spPr>
      </p:sp>
      <p:sp>
        <p:nvSpPr>
          <p:cNvPr id="25" name="Texto Durable Subscriber"/>
          <p:cNvSpPr txBox="1"/>
          <p:nvPr/>
        </p:nvSpPr>
        <p:spPr>
          <a:xfrm>
            <a:off x="8183880" y="2569464"/>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Durable Subscriber</a:t>
            </a:r>
            <a:endParaRPr lang="en-US" sz="1400" dirty="0"/>
          </a:p>
          <a:p>
            <a:pPr indent="0" marL="0">
              <a:buNone/>
            </a:pPr>
            <a:r>
              <a:rPr lang="en-US" sz="1200" dirty="0">
                <a:solidFill>
                  <a:schemeClr val="accent5"/>
                </a:solidFill>
              </a:rPr>
              <a:t>2 suscripciones</a:t>
            </a:r>
            <a:endParaRPr lang="en-US" sz="1400" dirty="0"/>
          </a:p>
        </p:txBody>
      </p:sp>
      <p:sp>
        <p:nvSpPr>
          <p:cNvPr id="26" name="Fila Event-Driven Consumer"/>
          <p:cNvSpPr/>
          <p:nvPr/>
        </p:nvSpPr>
        <p:spPr>
          <a:xfrm>
            <a:off x="8001000" y="3172968"/>
            <a:ext cx="3611880" cy="530352"/>
          </a:xfrm>
          <a:prstGeom prst="roundRect">
            <a:avLst>
              <a:gd name="adj" fmla="val 13793"/>
            </a:avLst>
          </a:prstGeom>
          <a:solidFill>
            <a:schemeClr val="bg2"/>
          </a:solidFill>
          <a:ln w="12700">
            <a:solidFill>
              <a:srgbClr val="EEF3FF"/>
            </a:solidFill>
            <a:prstDash val="solid"/>
          </a:ln>
        </p:spPr>
      </p:sp>
      <p:sp>
        <p:nvSpPr>
          <p:cNvPr id="27" name="Texto Event-Driven Consumer"/>
          <p:cNvSpPr txBox="1"/>
          <p:nvPr/>
        </p:nvSpPr>
        <p:spPr>
          <a:xfrm>
            <a:off x="8183880" y="3172968"/>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Event-Driven Consumer</a:t>
            </a:r>
            <a:endParaRPr lang="en-US" sz="1400" dirty="0"/>
          </a:p>
          <a:p>
            <a:pPr indent="0" marL="0">
              <a:buNone/>
            </a:pPr>
            <a:r>
              <a:rPr lang="en-US" sz="1200" dirty="0">
                <a:solidFill>
                  <a:schemeClr val="accent5"/>
                </a:solidFill>
              </a:rPr>
              <a:t>MDB</a:t>
            </a:r>
            <a:endParaRPr lang="en-US" sz="1400" dirty="0"/>
          </a:p>
        </p:txBody>
      </p:sp>
      <p:sp>
        <p:nvSpPr>
          <p:cNvPr id="28" name="Fila Transactional Client"/>
          <p:cNvSpPr/>
          <p:nvPr/>
        </p:nvSpPr>
        <p:spPr>
          <a:xfrm>
            <a:off x="8001000" y="3776472"/>
            <a:ext cx="3611880" cy="530352"/>
          </a:xfrm>
          <a:prstGeom prst="roundRect">
            <a:avLst>
              <a:gd name="adj" fmla="val 13793"/>
            </a:avLst>
          </a:prstGeom>
          <a:solidFill>
            <a:schemeClr val="bg2"/>
          </a:solidFill>
          <a:ln w="12700">
            <a:solidFill>
              <a:srgbClr val="EEF3FF"/>
            </a:solidFill>
            <a:prstDash val="solid"/>
          </a:ln>
        </p:spPr>
      </p:sp>
      <p:sp>
        <p:nvSpPr>
          <p:cNvPr id="29" name="Texto Transactional Client"/>
          <p:cNvSpPr txBox="1"/>
          <p:nvPr/>
        </p:nvSpPr>
        <p:spPr>
          <a:xfrm>
            <a:off x="8183880" y="3776472"/>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Transactional Client</a:t>
            </a:r>
            <a:endParaRPr lang="en-US" sz="1400" dirty="0"/>
          </a:p>
          <a:p>
            <a:pPr indent="0" marL="0">
              <a:buNone/>
            </a:pPr>
            <a:r>
              <a:rPr lang="en-US" sz="1200" dirty="0">
                <a:solidFill>
                  <a:schemeClr val="accent5"/>
                </a:solidFill>
              </a:rPr>
              <a:t>JMS en la JTA</a:t>
            </a:r>
            <a:endParaRPr lang="en-US" sz="1400" dirty="0"/>
          </a:p>
        </p:txBody>
      </p:sp>
      <p:sp>
        <p:nvSpPr>
          <p:cNvPr id="30" name="Fila Idempotent Receiver"/>
          <p:cNvSpPr/>
          <p:nvPr/>
        </p:nvSpPr>
        <p:spPr>
          <a:xfrm>
            <a:off x="8001000" y="4379976"/>
            <a:ext cx="3611880" cy="530352"/>
          </a:xfrm>
          <a:prstGeom prst="roundRect">
            <a:avLst>
              <a:gd name="adj" fmla="val 13793"/>
            </a:avLst>
          </a:prstGeom>
          <a:solidFill>
            <a:schemeClr val="bg2"/>
          </a:solidFill>
          <a:ln w="12700">
            <a:solidFill>
              <a:srgbClr val="EEF3FF"/>
            </a:solidFill>
            <a:prstDash val="solid"/>
          </a:ln>
        </p:spPr>
      </p:sp>
      <p:sp>
        <p:nvSpPr>
          <p:cNvPr id="31" name="Texto Idempotent Receiver"/>
          <p:cNvSpPr txBox="1"/>
          <p:nvPr/>
        </p:nvSpPr>
        <p:spPr>
          <a:xfrm>
            <a:off x="8183880" y="4379976"/>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Idempotent Receiver</a:t>
            </a:r>
            <a:endParaRPr lang="en-US" sz="1400" dirty="0"/>
          </a:p>
          <a:p>
            <a:pPr indent="0" marL="0">
              <a:buNone/>
            </a:pPr>
            <a:r>
              <a:rPr lang="en-US" sz="1200" dirty="0">
                <a:solidFill>
                  <a:schemeClr val="accent5"/>
                </a:solidFill>
              </a:rPr>
              <a:t>evento_procesado</a:t>
            </a:r>
            <a:endParaRPr lang="en-US" sz="1400" dirty="0"/>
          </a:p>
        </p:txBody>
      </p:sp>
      <p:sp>
        <p:nvSpPr>
          <p:cNvPr id="32" name="Fila Dead Letter Channel"/>
          <p:cNvSpPr/>
          <p:nvPr/>
        </p:nvSpPr>
        <p:spPr>
          <a:xfrm>
            <a:off x="8001000" y="4983480"/>
            <a:ext cx="3611880" cy="530352"/>
          </a:xfrm>
          <a:prstGeom prst="roundRect">
            <a:avLst>
              <a:gd name="adj" fmla="val 13793"/>
            </a:avLst>
          </a:prstGeom>
          <a:solidFill>
            <a:schemeClr val="bg2"/>
          </a:solidFill>
          <a:ln w="12700">
            <a:solidFill>
              <a:srgbClr val="EEF3FF"/>
            </a:solidFill>
            <a:prstDash val="solid"/>
          </a:ln>
        </p:spPr>
      </p:sp>
      <p:sp>
        <p:nvSpPr>
          <p:cNvPr id="33" name="Texto Dead Letter Channel"/>
          <p:cNvSpPr txBox="1"/>
          <p:nvPr/>
        </p:nvSpPr>
        <p:spPr>
          <a:xfrm>
            <a:off x="8183880" y="4983480"/>
            <a:ext cx="3291840" cy="530352"/>
          </a:xfrm>
          <a:prstGeom prst="rect">
            <a:avLst/>
          </a:prstGeom>
          <a:noFill/>
          <a:ln/>
        </p:spPr>
        <p:txBody>
          <a:bodyPr wrap="square" lIns="0" tIns="0" rIns="0" bIns="0" rtlCol="0" anchor="ctr"/>
          <a:lstStyle/>
          <a:p>
            <a:pPr indent="0" marL="0">
              <a:buNone/>
            </a:pPr>
            <a:r>
              <a:rPr lang="en-US" sz="1400" b="1" dirty="0">
                <a:solidFill>
                  <a:schemeClr val="tx2"/>
                </a:solidFill>
              </a:rPr>
              <a:t>Dead Letter Channel</a:t>
            </a:r>
            <a:endParaRPr lang="en-US" sz="1400" dirty="0"/>
          </a:p>
          <a:p>
            <a:pPr indent="0" marL="0">
              <a:buNone/>
            </a:pPr>
            <a:r>
              <a:rPr lang="en-US" sz="1200" dirty="0">
                <a:solidFill>
                  <a:schemeClr val="accent5"/>
                </a:solidFill>
              </a:rPr>
              <a:t>DLQ, 3 intentos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Además de lo pedido</a:t>
            </a:r>
            <a:endParaRPr lang="en-US" sz="3400" dirty="0"/>
          </a:p>
        </p:txBody>
      </p:sp>
      <p:sp>
        <p:nvSpPr>
          <p:cNvPr id="3" name="Tarjeta más rápida"/>
          <p:cNvSpPr/>
          <p:nvPr/>
        </p:nvSpPr>
        <p:spPr>
          <a:xfrm>
            <a:off x="548640" y="1554480"/>
            <a:ext cx="352044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4" name="Número más rápida"/>
          <p:cNvSpPr txBox="1"/>
          <p:nvPr/>
        </p:nvSpPr>
        <p:spPr>
          <a:xfrm>
            <a:off x="868680" y="1783080"/>
            <a:ext cx="2880360" cy="1188720"/>
          </a:xfrm>
          <a:prstGeom prst="rect">
            <a:avLst/>
          </a:prstGeom>
          <a:noFill/>
          <a:ln/>
        </p:spPr>
        <p:txBody>
          <a:bodyPr wrap="square" lIns="0" tIns="0" rIns="0" bIns="0" rtlCol="0" anchor="ctr"/>
          <a:lstStyle/>
          <a:p>
            <a:pPr indent="0" marL="0">
              <a:buNone/>
            </a:pPr>
            <a:r>
              <a:rPr lang="en-US" sz="6600" b="1" dirty="0">
                <a:solidFill>
                  <a:schemeClr val="accent1"/>
                </a:solidFill>
                <a:latin typeface="Cambria" pitchFamily="34" charset="0"/>
                <a:ea typeface="Cambria" pitchFamily="34" charset="-122"/>
                <a:cs typeface="Cambria" pitchFamily="34" charset="-120"/>
              </a:rPr>
              <a:t>4×</a:t>
            </a:r>
            <a:endParaRPr lang="en-US" sz="6600" dirty="0"/>
          </a:p>
        </p:txBody>
      </p:sp>
      <p:sp>
        <p:nvSpPr>
          <p:cNvPr id="5" name="Etiqueta más rápida"/>
          <p:cNvSpPr txBox="1"/>
          <p:nvPr/>
        </p:nvSpPr>
        <p:spPr>
          <a:xfrm>
            <a:off x="868680" y="2971800"/>
            <a:ext cx="2880360" cy="457200"/>
          </a:xfrm>
          <a:prstGeom prst="rect">
            <a:avLst/>
          </a:prstGeom>
          <a:noFill/>
          <a:ln/>
        </p:spPr>
        <p:txBody>
          <a:bodyPr wrap="square" lIns="0" tIns="0" rIns="0" bIns="0" rtlCol="0" anchor="ctr"/>
          <a:lstStyle/>
          <a:p>
            <a:pPr indent="0" marL="0">
              <a:buNone/>
            </a:pPr>
            <a:r>
              <a:rPr lang="en-US" sz="1900" b="1" dirty="0">
                <a:solidFill>
                  <a:schemeClr val="tx2"/>
                </a:solidFill>
              </a:rPr>
              <a:t>más rápida</a:t>
            </a:r>
            <a:endParaRPr lang="en-US" sz="1900" dirty="0"/>
          </a:p>
        </p:txBody>
      </p:sp>
      <p:sp>
        <p:nvSpPr>
          <p:cNvPr id="6" name="Detalle más rápida"/>
          <p:cNvSpPr txBox="1"/>
          <p:nvPr/>
        </p:nvSpPr>
        <p:spPr>
          <a:xfrm>
            <a:off x="868680" y="3474720"/>
            <a:ext cx="2880360" cy="1554480"/>
          </a:xfrm>
          <a:prstGeom prst="rect">
            <a:avLst/>
          </a:prstGeom>
          <a:noFill/>
          <a:ln/>
        </p:spPr>
        <p:txBody>
          <a:bodyPr wrap="square" lIns="0" tIns="0" rIns="0" bIns="0" rtlCol="0" anchor="t"/>
          <a:lstStyle/>
          <a:p>
            <a:pPr indent="0" marL="0">
              <a:buNone/>
            </a:pPr>
            <a:r>
              <a:rPr lang="en-US" sz="1500" dirty="0">
                <a:solidFill>
                  <a:schemeClr val="tx1"/>
                </a:solidFill>
              </a:rPr>
              <a:t>Cada página bajó de 3,4 s a 0,8 s: evitamos ~30 consultas repetidas por request a Supabase</a:t>
            </a:r>
            <a:endParaRPr lang="en-US" sz="1500" dirty="0"/>
          </a:p>
        </p:txBody>
      </p:sp>
      <p:sp>
        <p:nvSpPr>
          <p:cNvPr id="7" name="Tarjeta verificaciones automáticas"/>
          <p:cNvSpPr/>
          <p:nvPr/>
        </p:nvSpPr>
        <p:spPr>
          <a:xfrm>
            <a:off x="4297680" y="1554480"/>
            <a:ext cx="352044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8" name="Número verificaciones automáticas"/>
          <p:cNvSpPr txBox="1"/>
          <p:nvPr/>
        </p:nvSpPr>
        <p:spPr>
          <a:xfrm>
            <a:off x="4617720" y="1783080"/>
            <a:ext cx="2880360" cy="1188720"/>
          </a:xfrm>
          <a:prstGeom prst="rect">
            <a:avLst/>
          </a:prstGeom>
          <a:noFill/>
          <a:ln/>
        </p:spPr>
        <p:txBody>
          <a:bodyPr wrap="square" lIns="0" tIns="0" rIns="0" bIns="0" rtlCol="0" anchor="ctr"/>
          <a:lstStyle/>
          <a:p>
            <a:pPr indent="0" marL="0">
              <a:buNone/>
            </a:pPr>
            <a:r>
              <a:rPr lang="en-US" sz="6600" b="1" dirty="0">
                <a:solidFill>
                  <a:schemeClr val="accent2"/>
                </a:solidFill>
                <a:latin typeface="Cambria" pitchFamily="34" charset="0"/>
                <a:ea typeface="Cambria" pitchFamily="34" charset="-122"/>
                <a:cs typeface="Cambria" pitchFamily="34" charset="-120"/>
              </a:rPr>
              <a:t>14</a:t>
            </a:r>
            <a:endParaRPr lang="en-US" sz="6600" dirty="0"/>
          </a:p>
        </p:txBody>
      </p:sp>
      <p:sp>
        <p:nvSpPr>
          <p:cNvPr id="9" name="Etiqueta verificaciones automáticas"/>
          <p:cNvSpPr txBox="1"/>
          <p:nvPr/>
        </p:nvSpPr>
        <p:spPr>
          <a:xfrm>
            <a:off x="4617720" y="2971800"/>
            <a:ext cx="2880360" cy="457200"/>
          </a:xfrm>
          <a:prstGeom prst="rect">
            <a:avLst/>
          </a:prstGeom>
          <a:noFill/>
          <a:ln/>
        </p:spPr>
        <p:txBody>
          <a:bodyPr wrap="square" lIns="0" tIns="0" rIns="0" bIns="0" rtlCol="0" anchor="ctr"/>
          <a:lstStyle/>
          <a:p>
            <a:pPr indent="0" marL="0">
              <a:buNone/>
            </a:pPr>
            <a:r>
              <a:rPr lang="en-US" sz="1900" b="1" dirty="0">
                <a:solidFill>
                  <a:schemeClr val="tx2"/>
                </a:solidFill>
              </a:rPr>
              <a:t>verificaciones automáticas</a:t>
            </a:r>
            <a:endParaRPr lang="en-US" sz="1900" dirty="0"/>
          </a:p>
        </p:txBody>
      </p:sp>
      <p:sp>
        <p:nvSpPr>
          <p:cNvPr id="10" name="Detalle verificaciones automáticas"/>
          <p:cNvSpPr txBox="1"/>
          <p:nvPr/>
        </p:nvSpPr>
        <p:spPr>
          <a:xfrm>
            <a:off x="4617720" y="3474720"/>
            <a:ext cx="2880360" cy="1554480"/>
          </a:xfrm>
          <a:prstGeom prst="rect">
            <a:avLst/>
          </a:prstGeom>
          <a:noFill/>
          <a:ln/>
        </p:spPr>
        <p:txBody>
          <a:bodyPr wrap="square" lIns="0" tIns="0" rIns="0" bIns="0" rtlCol="0" anchor="t"/>
          <a:lstStyle/>
          <a:p>
            <a:pPr indent="0" marL="0">
              <a:buNone/>
            </a:pPr>
            <a:r>
              <a:rPr lang="en-US" sz="1500" dirty="0">
                <a:solidFill>
                  <a:schemeClr val="tx1"/>
                </a:solidFill>
              </a:rPr>
              <a:t>Una prueba de punta a punta recorre login, reserva, confirmación, cancelación y notificaciones</a:t>
            </a:r>
            <a:endParaRPr lang="en-US" sz="1500" dirty="0"/>
          </a:p>
        </p:txBody>
      </p:sp>
      <p:sp>
        <p:nvSpPr>
          <p:cNvPr id="11" name="Tarjeta diagramas UML"/>
          <p:cNvSpPr/>
          <p:nvPr/>
        </p:nvSpPr>
        <p:spPr>
          <a:xfrm>
            <a:off x="8046720" y="1554480"/>
            <a:ext cx="352044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A2238">
                <a:alpha val="12000"/>
              </a:srgbClr>
            </a:outerShdw>
          </a:effectLst>
        </p:spPr>
      </p:sp>
      <p:sp>
        <p:nvSpPr>
          <p:cNvPr id="12" name="Número diagramas UML"/>
          <p:cNvSpPr txBox="1"/>
          <p:nvPr/>
        </p:nvSpPr>
        <p:spPr>
          <a:xfrm>
            <a:off x="8366760" y="1783080"/>
            <a:ext cx="2880360" cy="1188720"/>
          </a:xfrm>
          <a:prstGeom prst="rect">
            <a:avLst/>
          </a:prstGeom>
          <a:noFill/>
          <a:ln/>
        </p:spPr>
        <p:txBody>
          <a:bodyPr wrap="square" lIns="0" tIns="0" rIns="0" bIns="0" rtlCol="0" anchor="ctr"/>
          <a:lstStyle/>
          <a:p>
            <a:pPr indent="0" marL="0">
              <a:buNone/>
            </a:pPr>
            <a:r>
              <a:rPr lang="en-US" sz="6600" b="1" dirty="0">
                <a:solidFill>
                  <a:schemeClr val="accent4"/>
                </a:solidFill>
                <a:latin typeface="Cambria" pitchFamily="34" charset="0"/>
                <a:ea typeface="Cambria" pitchFamily="34" charset="-122"/>
                <a:cs typeface="Cambria" pitchFamily="34" charset="-120"/>
              </a:rPr>
              <a:t>10</a:t>
            </a:r>
            <a:endParaRPr lang="en-US" sz="6600" dirty="0"/>
          </a:p>
        </p:txBody>
      </p:sp>
      <p:sp>
        <p:nvSpPr>
          <p:cNvPr id="13" name="Etiqueta diagramas UML"/>
          <p:cNvSpPr txBox="1"/>
          <p:nvPr/>
        </p:nvSpPr>
        <p:spPr>
          <a:xfrm>
            <a:off x="8366760" y="2971800"/>
            <a:ext cx="2880360" cy="457200"/>
          </a:xfrm>
          <a:prstGeom prst="rect">
            <a:avLst/>
          </a:prstGeom>
          <a:noFill/>
          <a:ln/>
        </p:spPr>
        <p:txBody>
          <a:bodyPr wrap="square" lIns="0" tIns="0" rIns="0" bIns="0" rtlCol="0" anchor="ctr"/>
          <a:lstStyle/>
          <a:p>
            <a:pPr indent="0" marL="0">
              <a:buNone/>
            </a:pPr>
            <a:r>
              <a:rPr lang="en-US" sz="1900" b="1" dirty="0">
                <a:solidFill>
                  <a:schemeClr val="tx2"/>
                </a:solidFill>
              </a:rPr>
              <a:t>diagramas UML</a:t>
            </a:r>
            <a:endParaRPr lang="en-US" sz="1900" dirty="0"/>
          </a:p>
        </p:txBody>
      </p:sp>
      <p:sp>
        <p:nvSpPr>
          <p:cNvPr id="14" name="Detalle diagramas UML"/>
          <p:cNvSpPr txBox="1"/>
          <p:nvPr/>
        </p:nvSpPr>
        <p:spPr>
          <a:xfrm>
            <a:off x="8366760" y="3474720"/>
            <a:ext cx="2880360" cy="1554480"/>
          </a:xfrm>
          <a:prstGeom prst="rect">
            <a:avLst/>
          </a:prstGeom>
          <a:noFill/>
          <a:ln/>
        </p:spPr>
        <p:txBody>
          <a:bodyPr wrap="square" lIns="0" tIns="0" rIns="0" bIns="0" rtlCol="0" anchor="t"/>
          <a:lstStyle/>
          <a:p>
            <a:pPr indent="0" marL="0">
              <a:buNone/>
            </a:pPr>
            <a:r>
              <a:rPr lang="en-US" sz="1500" dirty="0">
                <a:solidFill>
                  <a:schemeClr val="tx1"/>
                </a:solidFill>
              </a:rPr>
              <a:t>Del código real, con un documento maestro en formato APA que explica cada uno</a:t>
            </a:r>
            <a:endParaRPr lang="en-US" sz="1500" dirty="0"/>
          </a:p>
        </p:txBody>
      </p:sp>
      <p:sp>
        <p:nvSpPr>
          <p:cNvPr id="15" name="Nota bug"/>
          <p:cNvSpPr txBox="1"/>
          <p:nvPr/>
        </p:nvSpPr>
        <p:spPr>
          <a:xfrm>
            <a:off x="548640" y="5257800"/>
            <a:ext cx="11064240" cy="548640"/>
          </a:xfrm>
          <a:prstGeom prst="rect">
            <a:avLst/>
          </a:prstGeom>
          <a:noFill/>
          <a:ln/>
        </p:spPr>
        <p:txBody>
          <a:bodyPr wrap="square" lIns="0" tIns="0" rIns="0" bIns="0" rtlCol="0" anchor="ctr"/>
          <a:lstStyle/>
          <a:p>
            <a:pPr indent="0" marL="0">
              <a:buNone/>
            </a:pPr>
            <a:r>
              <a:rPr lang="en-US" sz="1500" i="1" dirty="0">
                <a:solidFill>
                  <a:schemeClr val="accent5"/>
                </a:solidFill>
              </a:rPr>
              <a:t>También la adaptamos a tablet y celular, y corregimos errores previos: el login que mostraba “Unauthorized”, el registro que aceptaba campos vacíos y la agenda que ofrecía horarios vencidos.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Lo que viene para el 09/11</a:t>
            </a:r>
            <a:endParaRPr lang="en-US" sz="3400" dirty="0"/>
          </a:p>
        </p:txBody>
      </p:sp>
      <p:sp>
        <p:nvSpPr>
          <p:cNvPr id="3" name="Línea de tiempo"/>
          <p:cNvSpPr/>
          <p:nvPr/>
        </p:nvSpPr>
        <p:spPr>
          <a:xfrm>
            <a:off x="1874520" y="2743200"/>
            <a:ext cx="8458200" cy="0"/>
          </a:xfrm>
          <a:prstGeom prst="line">
            <a:avLst/>
          </a:prstGeom>
          <a:noFill/>
          <a:ln w="38100">
            <a:solidFill>
              <a:srgbClr val="EEF3FF"/>
            </a:solidFill>
            <a:prstDash val="solid"/>
          </a:ln>
        </p:spPr>
      </p:sp>
      <p:sp>
        <p:nvSpPr>
          <p:cNvPr id="4" name="Cola punto a punto círculo"/>
          <p:cNvSpPr/>
          <p:nvPr/>
        </p:nvSpPr>
        <p:spPr>
          <a:xfrm>
            <a:off x="1417320" y="2286000"/>
            <a:ext cx="914400" cy="914400"/>
          </a:xfrm>
          <a:prstGeom prst="ellipse">
            <a:avLst/>
          </a:prstGeom>
          <a:solidFill>
            <a:schemeClr val="accent1"/>
          </a:solidFill>
          <a:ln w="12700">
            <a:solidFill>
              <a:schemeClr val="accent1"/>
            </a:solidFill>
            <a:prstDash val="solid"/>
          </a:ln>
        </p:spPr>
      </p:sp>
      <p:pic>
        <p:nvPicPr>
          <p:cNvPr id="5" name="Cola punto a punto ícono" descr="preencoded.png">    </p:cNvPr>
          <p:cNvPicPr>
            <a:picLocks noChangeAspect="1"/>
          </p:cNvPicPr>
          <p:nvPr/>
        </p:nvPicPr>
        <p:blipFill>
          <a:blip r:embed="rId1"/>
          <a:stretch>
            <a:fillRect/>
          </a:stretch>
        </p:blipFill>
        <p:spPr>
          <a:xfrm>
            <a:off x="1636776" y="2505456"/>
            <a:ext cx="475488" cy="475488"/>
          </a:xfrm>
          <a:prstGeom prst="rect">
            <a:avLst/>
          </a:prstGeom>
        </p:spPr>
      </p:pic>
      <p:sp>
        <p:nvSpPr>
          <p:cNvPr id="6" name="Hito Cola punto a punto"/>
          <p:cNvSpPr txBox="1"/>
          <p:nvPr/>
        </p:nvSpPr>
        <p:spPr>
          <a:xfrm>
            <a:off x="548640" y="3474720"/>
            <a:ext cx="2651760" cy="731520"/>
          </a:xfrm>
          <a:prstGeom prst="rect">
            <a:avLst/>
          </a:prstGeom>
          <a:noFill/>
          <a:ln/>
        </p:spPr>
        <p:txBody>
          <a:bodyPr wrap="square" lIns="0" tIns="0" rIns="0" bIns="0" rtlCol="0" anchor="t"/>
          <a:lstStyle/>
          <a:p>
            <a:pPr algn="ctr" indent="0" marL="0">
              <a:buNone/>
            </a:pPr>
            <a:r>
              <a:rPr lang="en-US" sz="1900" b="1" dirty="0">
                <a:solidFill>
                  <a:schemeClr val="tx2"/>
                </a:solidFill>
                <a:latin typeface="Cambria" pitchFamily="34" charset="0"/>
                <a:ea typeface="Cambria" pitchFamily="34" charset="-122"/>
                <a:cs typeface="Cambria" pitchFamily="34" charset="-120"/>
              </a:rPr>
              <a:t>Cola punto a punto</a:t>
            </a:r>
            <a:endParaRPr lang="en-US" sz="1900" dirty="0"/>
          </a:p>
        </p:txBody>
      </p:sp>
      <p:sp>
        <p:nvSpPr>
          <p:cNvPr id="7" name="Detalle Cola punto a punto"/>
          <p:cNvSpPr txBox="1"/>
          <p:nvPr/>
        </p:nvSpPr>
        <p:spPr>
          <a:xfrm>
            <a:off x="548640" y="4251960"/>
            <a:ext cx="2651760" cy="1371600"/>
          </a:xfrm>
          <a:prstGeom prst="rect">
            <a:avLst/>
          </a:prstGeom>
          <a:noFill/>
          <a:ln/>
        </p:spPr>
        <p:txBody>
          <a:bodyPr wrap="square" lIns="0" tIns="0" rIns="0" bIns="0" rtlCol="0" anchor="t"/>
          <a:lstStyle/>
          <a:p>
            <a:pPr algn="ctr" indent="0" marL="0">
              <a:buNone/>
            </a:pPr>
            <a:r>
              <a:rPr lang="en-US" sz="1500" dirty="0">
                <a:solidFill>
                  <a:schemeClr val="tx1"/>
                </a:solidFill>
              </a:rPr>
              <a:t>Autorizaciones de prestaciones, con competing consumers</a:t>
            </a:r>
            <a:endParaRPr lang="en-US" sz="1500" dirty="0"/>
          </a:p>
        </p:txBody>
      </p:sp>
      <p:sp>
        <p:nvSpPr>
          <p:cNvPr id="8" name="SOAP con WSDL círculo"/>
          <p:cNvSpPr/>
          <p:nvPr/>
        </p:nvSpPr>
        <p:spPr>
          <a:xfrm>
            <a:off x="4236415" y="2286000"/>
            <a:ext cx="914400" cy="914400"/>
          </a:xfrm>
          <a:prstGeom prst="ellipse">
            <a:avLst/>
          </a:prstGeom>
          <a:solidFill>
            <a:schemeClr val="accent1"/>
          </a:solidFill>
          <a:ln w="12700">
            <a:solidFill>
              <a:schemeClr val="accent1"/>
            </a:solidFill>
            <a:prstDash val="solid"/>
          </a:ln>
        </p:spPr>
      </p:sp>
      <p:pic>
        <p:nvPicPr>
          <p:cNvPr id="9" name="SOAP con WSDL ícono" descr="preencoded.png">    </p:cNvPr>
          <p:cNvPicPr>
            <a:picLocks noChangeAspect="1"/>
          </p:cNvPicPr>
          <p:nvPr/>
        </p:nvPicPr>
        <p:blipFill>
          <a:blip r:embed="rId2"/>
          <a:stretch>
            <a:fillRect/>
          </a:stretch>
        </p:blipFill>
        <p:spPr>
          <a:xfrm>
            <a:off x="4455871" y="2505456"/>
            <a:ext cx="475488" cy="475488"/>
          </a:xfrm>
          <a:prstGeom prst="rect">
            <a:avLst/>
          </a:prstGeom>
        </p:spPr>
      </p:pic>
      <p:sp>
        <p:nvSpPr>
          <p:cNvPr id="10" name="Hito SOAP con WSDL"/>
          <p:cNvSpPr txBox="1"/>
          <p:nvPr/>
        </p:nvSpPr>
        <p:spPr>
          <a:xfrm>
            <a:off x="3367735" y="3474720"/>
            <a:ext cx="2651760" cy="731520"/>
          </a:xfrm>
          <a:prstGeom prst="rect">
            <a:avLst/>
          </a:prstGeom>
          <a:noFill/>
          <a:ln/>
        </p:spPr>
        <p:txBody>
          <a:bodyPr wrap="square" lIns="0" tIns="0" rIns="0" bIns="0" rtlCol="0" anchor="t"/>
          <a:lstStyle/>
          <a:p>
            <a:pPr algn="ctr" indent="0" marL="0">
              <a:buNone/>
            </a:pPr>
            <a:r>
              <a:rPr lang="en-US" sz="1900" b="1" dirty="0">
                <a:solidFill>
                  <a:schemeClr val="tx2"/>
                </a:solidFill>
                <a:latin typeface="Cambria" pitchFamily="34" charset="0"/>
                <a:ea typeface="Cambria" pitchFamily="34" charset="-122"/>
                <a:cs typeface="Cambria" pitchFamily="34" charset="-120"/>
              </a:rPr>
              <a:t>SOAP con WSDL</a:t>
            </a:r>
            <a:endParaRPr lang="en-US" sz="1900" dirty="0"/>
          </a:p>
        </p:txBody>
      </p:sp>
      <p:sp>
        <p:nvSpPr>
          <p:cNvPr id="11" name="Detalle SOAP con WSDL"/>
          <p:cNvSpPr txBox="1"/>
          <p:nvPr/>
        </p:nvSpPr>
        <p:spPr>
          <a:xfrm>
            <a:off x="3367735" y="4251960"/>
            <a:ext cx="2651760" cy="1371600"/>
          </a:xfrm>
          <a:prstGeom prst="rect">
            <a:avLst/>
          </a:prstGeom>
          <a:noFill/>
          <a:ln/>
        </p:spPr>
        <p:txBody>
          <a:bodyPr wrap="square" lIns="0" tIns="0" rIns="0" bIns="0" rtlCol="0" anchor="t"/>
          <a:lstStyle/>
          <a:p>
            <a:pPr algn="ctr" indent="0" marL="0">
              <a:buNone/>
            </a:pPr>
            <a:r>
              <a:rPr lang="en-US" sz="1500" dirty="0">
                <a:solidFill>
                  <a:schemeClr val="tx1"/>
                </a:solidFill>
              </a:rPr>
              <a:t>Obra social legada, detrás de un Adapter con Circuit Breaker</a:t>
            </a:r>
            <a:endParaRPr lang="en-US" sz="1500" dirty="0"/>
          </a:p>
        </p:txBody>
      </p:sp>
      <p:sp>
        <p:nvSpPr>
          <p:cNvPr id="12" name="REST círculo"/>
          <p:cNvSpPr/>
          <p:nvPr/>
        </p:nvSpPr>
        <p:spPr>
          <a:xfrm>
            <a:off x="7055510" y="2286000"/>
            <a:ext cx="914400" cy="914400"/>
          </a:xfrm>
          <a:prstGeom prst="ellipse">
            <a:avLst/>
          </a:prstGeom>
          <a:solidFill>
            <a:schemeClr val="accent1"/>
          </a:solidFill>
          <a:ln w="12700">
            <a:solidFill>
              <a:schemeClr val="accent1"/>
            </a:solidFill>
            <a:prstDash val="solid"/>
          </a:ln>
        </p:spPr>
      </p:sp>
      <p:pic>
        <p:nvPicPr>
          <p:cNvPr id="13" name="REST ícono" descr="preencoded.png">    </p:cNvPr>
          <p:cNvPicPr>
            <a:picLocks noChangeAspect="1"/>
          </p:cNvPicPr>
          <p:nvPr/>
        </p:nvPicPr>
        <p:blipFill>
          <a:blip r:embed="rId3"/>
          <a:stretch>
            <a:fillRect/>
          </a:stretch>
        </p:blipFill>
        <p:spPr>
          <a:xfrm>
            <a:off x="7274966" y="2505456"/>
            <a:ext cx="475488" cy="475488"/>
          </a:xfrm>
          <a:prstGeom prst="rect">
            <a:avLst/>
          </a:prstGeom>
        </p:spPr>
      </p:pic>
      <p:sp>
        <p:nvSpPr>
          <p:cNvPr id="14" name="Hito REST"/>
          <p:cNvSpPr txBox="1"/>
          <p:nvPr/>
        </p:nvSpPr>
        <p:spPr>
          <a:xfrm>
            <a:off x="6186830" y="3474720"/>
            <a:ext cx="2651760" cy="731520"/>
          </a:xfrm>
          <a:prstGeom prst="rect">
            <a:avLst/>
          </a:prstGeom>
          <a:noFill/>
          <a:ln/>
        </p:spPr>
        <p:txBody>
          <a:bodyPr wrap="square" lIns="0" tIns="0" rIns="0" bIns="0" rtlCol="0" anchor="t"/>
          <a:lstStyle/>
          <a:p>
            <a:pPr algn="ctr" indent="0" marL="0">
              <a:buNone/>
            </a:pPr>
            <a:r>
              <a:rPr lang="en-US" sz="1900" b="1" dirty="0">
                <a:solidFill>
                  <a:schemeClr val="tx2"/>
                </a:solidFill>
                <a:latin typeface="Cambria" pitchFamily="34" charset="0"/>
                <a:ea typeface="Cambria" pitchFamily="34" charset="-122"/>
                <a:cs typeface="Cambria" pitchFamily="34" charset="-120"/>
              </a:rPr>
              <a:t>REST</a:t>
            </a:r>
            <a:endParaRPr lang="en-US" sz="1900" dirty="0"/>
          </a:p>
        </p:txBody>
      </p:sp>
      <p:sp>
        <p:nvSpPr>
          <p:cNvPr id="15" name="Detalle REST"/>
          <p:cNvSpPr txBox="1"/>
          <p:nvPr/>
        </p:nvSpPr>
        <p:spPr>
          <a:xfrm>
            <a:off x="6186830" y="4251960"/>
            <a:ext cx="2651760" cy="1371600"/>
          </a:xfrm>
          <a:prstGeom prst="rect">
            <a:avLst/>
          </a:prstGeom>
          <a:noFill/>
          <a:ln/>
        </p:spPr>
        <p:txBody>
          <a:bodyPr wrap="square" lIns="0" tIns="0" rIns="0" bIns="0" rtlCol="0" anchor="t"/>
          <a:lstStyle/>
          <a:p>
            <a:pPr algn="ctr" indent="0" marL="0">
              <a:buNone/>
            </a:pPr>
            <a:r>
              <a:rPr lang="en-US" sz="1500" dirty="0">
                <a:solidFill>
                  <a:schemeClr val="tx1"/>
                </a:solidFill>
              </a:rPr>
              <a:t>Pagos de turnos particulares y API de turnos</a:t>
            </a:r>
            <a:endParaRPr lang="en-US" sz="1500" dirty="0"/>
          </a:p>
        </p:txBody>
      </p:sp>
      <p:sp>
        <p:nvSpPr>
          <p:cNvPr id="16" name="Transacción de varios pasos círculo"/>
          <p:cNvSpPr/>
          <p:nvPr/>
        </p:nvSpPr>
        <p:spPr>
          <a:xfrm>
            <a:off x="9874606" y="2286000"/>
            <a:ext cx="914400" cy="914400"/>
          </a:xfrm>
          <a:prstGeom prst="ellipse">
            <a:avLst/>
          </a:prstGeom>
          <a:solidFill>
            <a:schemeClr val="accent3"/>
          </a:solidFill>
          <a:ln w="12700">
            <a:solidFill>
              <a:schemeClr val="accent3"/>
            </a:solidFill>
            <a:prstDash val="solid"/>
          </a:ln>
        </p:spPr>
      </p:sp>
      <p:pic>
        <p:nvPicPr>
          <p:cNvPr id="17" name="Transacción de varios pasos ícono" descr="preencoded.png">    </p:cNvPr>
          <p:cNvPicPr>
            <a:picLocks noChangeAspect="1"/>
          </p:cNvPicPr>
          <p:nvPr/>
        </p:nvPicPr>
        <p:blipFill>
          <a:blip r:embed="rId4"/>
          <a:stretch>
            <a:fillRect/>
          </a:stretch>
        </p:blipFill>
        <p:spPr>
          <a:xfrm>
            <a:off x="10094062" y="2505456"/>
            <a:ext cx="475488" cy="475488"/>
          </a:xfrm>
          <a:prstGeom prst="rect">
            <a:avLst/>
          </a:prstGeom>
        </p:spPr>
      </p:pic>
      <p:sp>
        <p:nvSpPr>
          <p:cNvPr id="18" name="Hito Transacción de varios pasos"/>
          <p:cNvSpPr txBox="1"/>
          <p:nvPr/>
        </p:nvSpPr>
        <p:spPr>
          <a:xfrm>
            <a:off x="9005926" y="3474720"/>
            <a:ext cx="2651760" cy="731520"/>
          </a:xfrm>
          <a:prstGeom prst="rect">
            <a:avLst/>
          </a:prstGeom>
          <a:noFill/>
          <a:ln/>
        </p:spPr>
        <p:txBody>
          <a:bodyPr wrap="square" lIns="0" tIns="0" rIns="0" bIns="0" rtlCol="0" anchor="t"/>
          <a:lstStyle/>
          <a:p>
            <a:pPr algn="ctr" indent="0" marL="0">
              <a:buNone/>
            </a:pPr>
            <a:r>
              <a:rPr lang="en-US" sz="1900" b="1" dirty="0">
                <a:solidFill>
                  <a:schemeClr val="tx2"/>
                </a:solidFill>
                <a:latin typeface="Cambria" pitchFamily="34" charset="0"/>
                <a:ea typeface="Cambria" pitchFamily="34" charset="-122"/>
                <a:cs typeface="Cambria" pitchFamily="34" charset="-120"/>
              </a:rPr>
              <a:t>Transacción de varios pasos</a:t>
            </a:r>
            <a:endParaRPr lang="en-US" sz="1900" dirty="0"/>
          </a:p>
        </p:txBody>
      </p:sp>
      <p:sp>
        <p:nvSpPr>
          <p:cNvPr id="19" name="Detalle Transacción de varios pasos"/>
          <p:cNvSpPr txBox="1"/>
          <p:nvPr/>
        </p:nvSpPr>
        <p:spPr>
          <a:xfrm>
            <a:off x="9005926" y="4251960"/>
            <a:ext cx="2651760" cy="1371600"/>
          </a:xfrm>
          <a:prstGeom prst="rect">
            <a:avLst/>
          </a:prstGeom>
          <a:noFill/>
          <a:ln/>
        </p:spPr>
        <p:txBody>
          <a:bodyPr wrap="square" lIns="0" tIns="0" rIns="0" bIns="0" rtlCol="0" anchor="t"/>
          <a:lstStyle/>
          <a:p>
            <a:pPr algn="ctr" indent="0" marL="0">
              <a:buNone/>
            </a:pPr>
            <a:r>
              <a:rPr lang="en-US" sz="1500" dirty="0">
                <a:solidFill>
                  <a:schemeClr val="tx1"/>
                </a:solidFill>
              </a:rPr>
              <a:t>Reservar, cobrar y confirmar, con rollback si el cobro falla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Abramos el código</a:t>
            </a:r>
            <a:endParaRPr lang="en-US" sz="5400" dirty="0"/>
          </a:p>
        </p:txBody>
      </p:sp>
      <p:sp>
        <p:nvSpPr>
          <p:cNvPr id="3" name="Text 0"/>
          <p:cNvSpPr/>
          <p:nvPr>
            <p:ph idx="101" type="body" hasCustomPrompt="1"/>
          </p:nvPr>
        </p:nvSpPr>
        <p:spPr>
          <a:xfrm>
            <a:off x="731520" y="3246120"/>
            <a:ext cx="10698480" cy="731520"/>
          </a:xfrm>
          <a:prstGeom prst="rect">
            <a:avLst/>
          </a:prstGeom>
          <a:noFill/>
          <a:ln/>
        </p:spPr>
        <p:txBody>
          <a:bodyPr wrap="square" lIns="0" tIns="0" rIns="0" bIns="0" rtlCol="0" anchor="t"/>
          <a:lstStyle/>
          <a:p>
            <a:pPr algn="l" indent="0" marL="0">
              <a:buNone/>
            </a:pPr>
            <a:r>
              <a:rPr lang="en-US" sz="2400" dirty="0">
                <a:solidFill>
                  <a:srgbClr val="C9D6F7"/>
                </a:solidFill>
                <a:latin typeface="Calibri" pitchFamily="34" charset="0"/>
                <a:ea typeface="Calibri" pitchFamily="34" charset="-122"/>
                <a:cs typeface="Calibri" pitchFamily="34" charset="-120"/>
              </a:rPr>
              <a:t>¿Preguntas?</a:t>
            </a:r>
            <a:endParaRPr lang="en-US" sz="2400" dirty="0"/>
          </a:p>
        </p:txBody>
      </p:sp>
      <p:sp>
        <p:nvSpPr>
          <p:cNvPr id="4" name="Archivo ServicioDeTurnosBean"/>
          <p:cNvSpPr/>
          <p:nvPr/>
        </p:nvSpPr>
        <p:spPr>
          <a:xfrm>
            <a:off x="731520" y="4480560"/>
            <a:ext cx="3383280" cy="1280160"/>
          </a:xfrm>
          <a:prstGeom prst="roundRect">
            <a:avLst>
              <a:gd name="adj" fmla="val 7143"/>
            </a:avLst>
          </a:prstGeom>
          <a:solidFill>
            <a:srgbClr val="22398F"/>
          </a:solidFill>
          <a:ln w="12700">
            <a:solidFill>
              <a:srgbClr val="22398F"/>
            </a:solidFill>
            <a:prstDash val="solid"/>
          </a:ln>
        </p:spPr>
      </p:sp>
      <p:sp>
        <p:nvSpPr>
          <p:cNvPr id="5" name="Texto archivo ServicioDeTurnosBean"/>
          <p:cNvSpPr txBox="1"/>
          <p:nvPr/>
        </p:nvSpPr>
        <p:spPr>
          <a:xfrm>
            <a:off x="960120" y="4480560"/>
            <a:ext cx="2926080" cy="1280160"/>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ServicioDeTurnosBean</a:t>
            </a:r>
            <a:endParaRPr lang="en-US" sz="1400" dirty="0"/>
          </a:p>
          <a:p>
            <a:pPr indent="0" marL="0">
              <a:buNone/>
            </a:pPr>
            <a:r>
              <a:rPr lang="en-US" sz="1400" dirty="0">
                <a:solidFill>
                  <a:srgbClr val="C9D6F7"/>
                </a:solidFill>
              </a:rPr>
              <a:t>confirmar(): transacción + Builder + evento</a:t>
            </a:r>
            <a:endParaRPr lang="en-US" sz="1400" dirty="0"/>
          </a:p>
        </p:txBody>
      </p:sp>
      <p:sp>
        <p:nvSpPr>
          <p:cNvPr id="6" name="Archivo NotificacionesSubscriber"/>
          <p:cNvSpPr/>
          <p:nvPr/>
        </p:nvSpPr>
        <p:spPr>
          <a:xfrm>
            <a:off x="4389120" y="4480560"/>
            <a:ext cx="3383280" cy="1280160"/>
          </a:xfrm>
          <a:prstGeom prst="roundRect">
            <a:avLst>
              <a:gd name="adj" fmla="val 7143"/>
            </a:avLst>
          </a:prstGeom>
          <a:solidFill>
            <a:srgbClr val="22398F"/>
          </a:solidFill>
          <a:ln w="12700">
            <a:solidFill>
              <a:srgbClr val="22398F"/>
            </a:solidFill>
            <a:prstDash val="solid"/>
          </a:ln>
        </p:spPr>
      </p:sp>
      <p:sp>
        <p:nvSpPr>
          <p:cNvPr id="7" name="Texto archivo NotificacionesSubscriber"/>
          <p:cNvSpPr txBox="1"/>
          <p:nvPr/>
        </p:nvSpPr>
        <p:spPr>
          <a:xfrm>
            <a:off x="4617720" y="4480560"/>
            <a:ext cx="2926080" cy="1280160"/>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NotificacionesSubscriber</a:t>
            </a:r>
            <a:endParaRPr lang="en-US" sz="1400" dirty="0"/>
          </a:p>
          <a:p>
            <a:pPr indent="0" marL="0">
              <a:buNone/>
            </a:pPr>
            <a:r>
              <a:rPr lang="en-US" sz="1400" dirty="0">
                <a:solidFill>
                  <a:srgbClr val="C9D6F7"/>
                </a:solidFill>
              </a:rPr>
              <a:t>MDB durable + idempotencia</a:t>
            </a:r>
            <a:endParaRPr lang="en-US" sz="1400" dirty="0"/>
          </a:p>
        </p:txBody>
      </p:sp>
      <p:sp>
        <p:nvSpPr>
          <p:cNvPr id="8" name="Archivo ProcesadorNotificacion"/>
          <p:cNvSpPr/>
          <p:nvPr/>
        </p:nvSpPr>
        <p:spPr>
          <a:xfrm>
            <a:off x="8046720" y="4480560"/>
            <a:ext cx="3383280" cy="1280160"/>
          </a:xfrm>
          <a:prstGeom prst="roundRect">
            <a:avLst>
              <a:gd name="adj" fmla="val 7143"/>
            </a:avLst>
          </a:prstGeom>
          <a:solidFill>
            <a:srgbClr val="22398F"/>
          </a:solidFill>
          <a:ln w="12700">
            <a:solidFill>
              <a:srgbClr val="22398F"/>
            </a:solidFill>
            <a:prstDash val="solid"/>
          </a:ln>
        </p:spPr>
      </p:sp>
      <p:sp>
        <p:nvSpPr>
          <p:cNvPr id="9" name="Texto archivo ProcesadorNotificacion"/>
          <p:cNvSpPr txBox="1"/>
          <p:nvPr/>
        </p:nvSpPr>
        <p:spPr>
          <a:xfrm>
            <a:off x="8275320" y="4480560"/>
            <a:ext cx="2926080" cy="1280160"/>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ProcesadorNotificacion</a:t>
            </a:r>
            <a:endParaRPr lang="en-US" sz="1400" dirty="0"/>
          </a:p>
          <a:p>
            <a:pPr indent="0" marL="0">
              <a:buNone/>
            </a:pPr>
            <a:r>
              <a:rPr lang="en-US" sz="1400" dirty="0">
                <a:solidFill>
                  <a:srgbClr val="C9D6F7"/>
                </a:solidFill>
              </a:rPr>
              <a:t>Template Method + Factory Method</a:t>
            </a:r>
            <a:endParaRPr lang="en-US" sz="1400" dirty="0"/>
          </a:p>
        </p:txBody>
      </p:sp>
    </p:spTree>
  </p:cSld>
  <p:clrMapOvr>
    <a:masterClrMapping/>
  </p:clrMapOvr>
</p:sld>
</file>

<file path=ppt/theme/theme1.xml><?xml version="1.0" encoding="utf-8"?>
<a:theme xmlns:a="http://schemas.openxmlformats.org/drawingml/2006/main" name="MediConecta">
  <a:themeElements>
    <a:clrScheme name="MediConecta">
      <a:dk1>
        <a:srgbClr val="1A2238"/>
      </a:dk1>
      <a:lt1>
        <a:srgbClr val="FFFFFF"/>
      </a:lt1>
      <a:dk2>
        <a:srgbClr val="16308C"/>
      </a:dk2>
      <a:lt2>
        <a:srgbClr val="EEF3FF"/>
      </a:lt2>
      <a:accent1>
        <a:srgbClr val="2F5FE0"/>
      </a:accent1>
      <a:accent2>
        <a:srgbClr val="17874A"/>
      </a:accent2>
      <a:accent3>
        <a:srgbClr val="D9861C"/>
      </a:accent3>
      <a:accent4>
        <a:srgbClr val="0E8F8A"/>
      </a:accent4>
      <a:accent5>
        <a:srgbClr val="6B7280"/>
      </a:accent5>
      <a:accent6>
        <a:srgbClr val="CC3730"/>
      </a:accent6>
      <a:hlink>
        <a:srgbClr val="2F5FE0"/>
      </a:hlink>
      <a:folHlink>
        <a:srgbClr val="5B3FA0"/>
      </a:folHlink>
    </a:clrScheme>
    <a:fontScheme name="MediConec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MediConecta — Entrega Parcial N.º 2</dc:title>
  <dc:subject>Desarrollo de Aplicaciones II — UADE</dc:subject>
  <dc:creator>Grupo 4: Agustín Bodas, Máximo Bonarrico y Sergio Casanova</dc:creator>
  <cp:lastModifiedBy>Grupo 4: Agustín Bodas, Máximo Bonarrico y Sergio Casanova</cp:lastModifiedBy>
  <cp:revision>1</cp:revision>
  <dcterms:created xsi:type="dcterms:W3CDTF">2026-10-18T20:03:18Z</dcterms:created>
  <dcterms:modified xsi:type="dcterms:W3CDTF">2026-10-18T20:03:18Z</dcterms:modified>
</cp:coreProperties>
</file>